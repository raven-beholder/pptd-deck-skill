
<file path=[Content_Types].xml><?xml version="1.0" encoding="utf-8"?>
<Types xmlns="http://schemas.openxmlformats.org/package/2006/content-types">
  <Default Extension="rels" ContentType="application/vnd.openxmlformats-package.relationship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notesTheme.xml" ContentType="application/vnd.openxmlformats-officedocument.theme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custom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/Relationships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notesTheme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4.xml" 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5.xml" 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6.xml" 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开场先界定本文的研究对象：2017 年的编码器—解码器 Transformer。论文问题是在不使用序列对齐的循环与卷积的条件下，是否仍能做好序列转导。主讲部分约 20 分钟，最后一页可供复现讨论。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论文位置：标题、摘要，PDF 第 1 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循环模型沿输入位置依次计算隐藏状态。自注意力把所有查询同时打包成矩阵，因此一层内所需串行步骤为常数。这里比较的是单层依赖结构，不能据此认为自回归推理可以一次生成所有词。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论文位置：§1–2、§4、表1，PDF 第 2,6 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先沿左路介绍输入表示，再沿右路解释如何预测下一个目标词。每个编码层有两个子层，每个解码层有三个。图是原论文图1的简化解释图，省略逐条残差支路，但每个子层都采用残差加法后接 LayerNorm。交叉注意力的 K/V 来自整个编码器的最终输出。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论文位置：§3–3.1、图1，PDF 第 2,3 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Q 表示当前要读取什么，K 决定哪些信息匹配，V 是要聚合的内容。softmax 对每个查询对应的一行分数归一化。缩放项来自一个简化假设：分量独立且均值0、方差1时，点积方差随 d_k 增大。作者认为缩放可缓解 softmax 梯度过小。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论文位置：§3.2.1、式(1)、图2，PDF 第 4 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本页数字是用于讲清计算过程的手工教学示例，并非模型的真实注意力输出。令 Q=[1]、K=[2,0,1]^T、d_k=1，各位置 V 是二维向量。三项权重约为0.665、0.090、0.245，结果约为(0.910,0.335)。词标签只用于识别位置，不能把这种任意设定解释成语言模型学到的语义。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论文位置：§3.2.1 的教学示例，PDF 第 4 页。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每个头都有独立学习的 Q/K/V 投影。降低每个头的维度后并行计算，连接各头输出，再通过 W^O 映射回模型维度。不同头可能学到不同关系，但它们的职责并不是事先规定的。图中的三个头只代表8个头中的若干。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论文位置：§3.2.2、图2，PDF 第 4,5 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三个模块使用同一个计算函数，区别在 Q/K/V 的来源与 mask。编码器自注意力读整段输入。解码器自注意力只能读当前和此前的右移目标位置。交叉注意力由解码器查询源序列，不施加目标端因果 mask。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论文位置：§3.2.3，PDF 第 5 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训练时可将完整的真实目标序列右移，所有查询同时计算，通过因果 mask 防止泄漏后续目标。推理时只有已生成的目标前缀，所以每一步必须等待此前结果。下面的中文句子是教学例子，不是论文实验样本。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论文位置：§3、§3.1、§3.2.3，PDF 第 2,3,5 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自注意力本身不提供序列位置，所以论文把位置编码加到词嵌入上。偶数维用正弦，奇数维用余弦，频率随维度变化。作者提出该设计可能允许长于训练长度的外推，但未给出直接的长序列外推实验。右图示意词向量与位置向量的加法，不展示实际向量数值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论文位置：§3.5、表3(E)，PDF 第 6,9 页。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Attention 在位置之间混合信息。FFN 对各位置分别应用相同参数，其内层采用 ReLU。原论文是 Add 后再 Norm 的顺序，即 post-LN，区别于后来的 pre-LN 变体。图中维度是 base 配置。编码器和解码器子层都使用残差连接。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论文位置：§3.1、§3.3–3.4、式(2)，PDF 第 3,5 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翻译采用两种规模差异明显的数据集。base 和 big 的参数规模与训练步数都不同，所以它们之间的效果差不能视作只增加某一模块的因果证据。两个模型均在8张 P100 上训练。参数数是表3报告的英德配置。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论文位置：§5.1–5.2、表3，PDF 第 7,9 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学习率先随步数线性增长，再按步数的负二分之一次幂下降。曲线按式(3)计算并归一化到峰值，不是测量到的训练损失。dropout 放在子层输出及 embedding+position 上。label smoothing 使模型更不确定，原文说明它会损害困惑度但改善 BLEU。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论文位置：§5.3–5.4、式(3)，PDF 第 7,8 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这是 WMT14 英德 newstest2014 测试集。最强既有集成 ConvS2S ensemble 是26.36，Transformer big 是28.4，相差2.04 BLEU。base为27.3。Transformer采用单模型检查点参数平均：base最后5个，big最后20个，这与多个独立模型的预测集成不同。图的横轴从0起。论文未报告这些BLEU的随机种子方差。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论文位置：§6.1、表2，PDF 第 8 页。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本页只比较表2中的单模型结果。Transformer big训练FLOPs约为此前最高单模型MoE的1/5.2。FLOPs并非在同一硬件上实测，而是作者用训练时间、GPU数与估计吞吐推算。重要的原文冲突：表2和摘要是41.8，§6.1正文是41.0。保留这处差异，不能声称已核实哪一处应被修正。即使取41.0也超过表2中的既有单模型40.56，但不再超过表中最佳既有集成41.29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论文位置：§6.1、表2、摘要，PDF 第 1,8 页。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本页是英德开发集 newstest2013，不是测试集 newstest2014。只改变头数及每头维度，并保持计算量近似不变。1头比8头低0.9 BLEU；16头与8头同为25.8；32头降为25.4。不要把这些分数与测试表2混用。论文无检查点平均，也未报告多随机种子的方差。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论文位置：§6.2、表3(A)，PDF 第 9 页。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这里抽取表3中单项变体，不把整个表复制到一页。少层数与去掉dropout都有较明显下降，增大FFN有提升，学习位置编码与固定正弦的差距仅0.1 BLEU。一次单项变体没有给出种子误差条，所以0.1分差不宜解释成正弦严格优于学习位置。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论文位置：§6.2、表3(C–E)，PDF 第 9 页。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英语成分句法分析输出结构化序列，长度比输入更长，是对翻译外能力的验证。比较要区分 WSJ-only 判别式、半监督、多任务和生成式设置。Transformer WSJ-only 为91.3，高于 Berkeley Parser90.4，但低于Dyer判别式91.7。半监督92.7高于已有半监督92.1。多任务93.0、生成式93.3来自不同设定，所以不能拿来做同预算因果比较。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论文位置：§6.3、表4，PDF 第 9,10 页。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将局限分成论文已明示的计算与生成问题，以及从实验报告范围做出的审慎评价。长序列成本和生成串行由模型结构可直接得出；局部注意力与减轻串行生成是作者未来方向。未报告误差条、未做完全移除attention的同预算对照是对表2—4的范围描述，并不是复现实验发现。附录注意力关系只能算观察证据，缺少干预验证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论文位置：§4、§6–7、附录，PDF 第 6,7,8,9,10,13,14,15 页。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收束三个结论，然后把组会讨论落在一个可设计的实验上：固定参数规模和训练FLOPs，替换或者限制注意力，分别观察长度、依赖距离、质量与生成速度。讨论问题是汇报者提出的研究建议，论文没有实施这些实验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论文位置：§1、§4、§6–7，PDF 第 2,6,8,9,10 页。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备查页可用于回答复现问题。表2是测试集结果，并使用最后若干检查点的参数平均；表3是开发集变体且没有检查点平均。论文用开发集选择beam与length penalty。big英法dropout为0.1，英德配置是0.3。表2估算训练FLOPs不能替代当代同硬件计时；本文未提供复现实验。</a:t>
            </a:r>
          </a:p>
          <a:p>
            <a:r>
              <a:t/>
            </a:r>
          </a:p>
          <a:p>
            <a:r>
              <a:t>来源：https://arxiv.org/abs/1706.03762v7</a:t>
            </a:r>
          </a:p>
          <a:p>
            <a:r>
              <a:t>论文位置：§5–6、表2–3，PDF 第 7,8,9 页。</a:t>
            </a:r>
          </a:p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1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2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2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4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4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4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5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2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6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3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7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7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8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1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9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5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9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9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6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2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hyperlink" Target="https://arxiv.org/pdf/1706.03762v7#page=7" TargetMode="Externa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标题、摘要  论文 p.1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4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01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5" name="cover-kicker"/>
          <p:cNvSpPr txBox="1"/>
          <p:nvPr/>
        </p:nvSpPr>
        <p:spPr>
          <a:xfrm>
            <a:off x="584200" y="6096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NIPS 2017   /   Vaswani 等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6" name="cover-title"/>
          <p:cNvSpPr txBox="1"/>
          <p:nvPr/>
        </p:nvSpPr>
        <p:spPr>
          <a:xfrm>
            <a:off x="584200" y="1473200"/>
            <a:ext cx="75946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4800" b="1">
                <a:solidFill>
                  <a:srgbClr val="820000"/>
                </a:solidFill>
                <a:latin typeface="Arial Unicode MS"/>
                <a:ea typeface="Arial Unicode MS"/>
              </a:rPr>
              <a:t>Attention Is</a:t>
            </a:r>
            <a:endParaRPr lang="en-US" sz="4800" b="1">
              <a:solidFill>
                <a:srgbClr val="820000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4800" b="1">
                <a:solidFill>
                  <a:srgbClr val="820000"/>
                </a:solidFill>
                <a:latin typeface="Arial Unicode MS"/>
                <a:ea typeface="Arial Unicode MS"/>
              </a:rPr>
              <a:t>All You Need</a:t>
            </a:r>
            <a:endParaRPr lang="en-US" sz="4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7" name="cover-subtitle"/>
          <p:cNvSpPr txBox="1"/>
          <p:nvPr/>
        </p:nvSpPr>
        <p:spPr>
          <a:xfrm>
            <a:off x="584200" y="3771900"/>
            <a:ext cx="7366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252525"/>
                </a:solidFill>
                <a:latin typeface="Arial Unicode MS"/>
                <a:ea typeface="Arial Unicode MS"/>
              </a:rPr>
              <a:t>用注意力构建序列到序列模型</a:t>
            </a:r>
            <a:endParaRPr lang="en-US" sz="2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8" name="cover-question"/>
          <p:cNvSpPr txBox="1"/>
          <p:nvPr/>
        </p:nvSpPr>
        <p:spPr>
          <a:xfrm>
            <a:off x="584200" y="4864100"/>
            <a:ext cx="6934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100">
                <a:solidFill>
                  <a:srgbClr val="6D6D6D"/>
                </a:solidFill>
                <a:latin typeface="Arial Unicode MS"/>
                <a:ea typeface="Arial Unicode MS"/>
              </a:rPr>
              <a:t>核心方法、关键实验与证据边界</a:t>
            </a:r>
            <a:endParaRPr lang="en-US" sz="2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9" name="token-0-0"/>
          <p:cNvSpPr/>
          <p:nvPr/>
        </p:nvSpPr>
        <p:spPr>
          <a:xfrm>
            <a:off x="8509000" y="2247900"/>
            <a:ext cx="660400" cy="660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20000"/>
            </a:solidFill>
            <a:prstDash val="solid"/>
          </a:ln>
        </p:spPr>
      </p:sp>
      <p:sp>
        <p:nvSpPr>
          <p:cNvPr id="10" name="token-label-0-0"/>
          <p:cNvSpPr txBox="1"/>
          <p:nvPr/>
        </p:nvSpPr>
        <p:spPr>
          <a:xfrm>
            <a:off x="8509000" y="2400300"/>
            <a:ext cx="660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820000"/>
                </a:solidFill>
                <a:latin typeface="Arial Unicode MS"/>
                <a:ea typeface="Arial Unicode MS"/>
              </a:rPr>
              <a:t>x1</a:t>
            </a:r>
            <a:endParaRPr lang="en-US" sz="20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token-0-1"/>
          <p:cNvSpPr/>
          <p:nvPr/>
        </p:nvSpPr>
        <p:spPr>
          <a:xfrm>
            <a:off x="8509000" y="3873500"/>
            <a:ext cx="660400" cy="660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20000"/>
            </a:solidFill>
            <a:prstDash val="solid"/>
          </a:ln>
        </p:spPr>
      </p:sp>
      <p:sp>
        <p:nvSpPr>
          <p:cNvPr id="12" name="token-label-0-1"/>
          <p:cNvSpPr txBox="1"/>
          <p:nvPr/>
        </p:nvSpPr>
        <p:spPr>
          <a:xfrm>
            <a:off x="8509000" y="4025900"/>
            <a:ext cx="660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820000"/>
                </a:solidFill>
                <a:latin typeface="Arial Unicode MS"/>
                <a:ea typeface="Arial Unicode MS"/>
              </a:rPr>
              <a:t>z1</a:t>
            </a:r>
            <a:endParaRPr lang="en-US" sz="20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token-1-0"/>
          <p:cNvSpPr/>
          <p:nvPr/>
        </p:nvSpPr>
        <p:spPr>
          <a:xfrm>
            <a:off x="9652000" y="2247900"/>
            <a:ext cx="660400" cy="660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20000"/>
            </a:solidFill>
            <a:prstDash val="solid"/>
          </a:ln>
        </p:spPr>
      </p:sp>
      <p:sp>
        <p:nvSpPr>
          <p:cNvPr id="14" name="token-label-1-0"/>
          <p:cNvSpPr txBox="1"/>
          <p:nvPr/>
        </p:nvSpPr>
        <p:spPr>
          <a:xfrm>
            <a:off x="9652000" y="2400300"/>
            <a:ext cx="660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820000"/>
                </a:solidFill>
                <a:latin typeface="Arial Unicode MS"/>
                <a:ea typeface="Arial Unicode MS"/>
              </a:rPr>
              <a:t>x2</a:t>
            </a:r>
            <a:endParaRPr lang="en-US" sz="20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token-1-1"/>
          <p:cNvSpPr/>
          <p:nvPr/>
        </p:nvSpPr>
        <p:spPr>
          <a:xfrm>
            <a:off x="9652000" y="3873500"/>
            <a:ext cx="660400" cy="660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20000"/>
            </a:solidFill>
            <a:prstDash val="solid"/>
          </a:ln>
        </p:spPr>
      </p:sp>
      <p:sp>
        <p:nvSpPr>
          <p:cNvPr id="16" name="token-label-1-1"/>
          <p:cNvSpPr txBox="1"/>
          <p:nvPr/>
        </p:nvSpPr>
        <p:spPr>
          <a:xfrm>
            <a:off x="9652000" y="4025900"/>
            <a:ext cx="660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820000"/>
                </a:solidFill>
                <a:latin typeface="Arial Unicode MS"/>
                <a:ea typeface="Arial Unicode MS"/>
              </a:rPr>
              <a:t>z2</a:t>
            </a:r>
            <a:endParaRPr lang="en-US" sz="20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token-2-0"/>
          <p:cNvSpPr/>
          <p:nvPr/>
        </p:nvSpPr>
        <p:spPr>
          <a:xfrm>
            <a:off x="10795000" y="2247900"/>
            <a:ext cx="660400" cy="660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20000"/>
            </a:solidFill>
            <a:prstDash val="solid"/>
          </a:ln>
        </p:spPr>
      </p:sp>
      <p:sp>
        <p:nvSpPr>
          <p:cNvPr id="18" name="token-label-2-0"/>
          <p:cNvSpPr txBox="1"/>
          <p:nvPr/>
        </p:nvSpPr>
        <p:spPr>
          <a:xfrm>
            <a:off x="10795000" y="2400300"/>
            <a:ext cx="660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820000"/>
                </a:solidFill>
                <a:latin typeface="Arial Unicode MS"/>
                <a:ea typeface="Arial Unicode MS"/>
              </a:rPr>
              <a:t>x3</a:t>
            </a:r>
            <a:endParaRPr lang="en-US" sz="20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token-2-1"/>
          <p:cNvSpPr/>
          <p:nvPr/>
        </p:nvSpPr>
        <p:spPr>
          <a:xfrm>
            <a:off x="10795000" y="3873500"/>
            <a:ext cx="660400" cy="6604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820000"/>
            </a:solidFill>
            <a:prstDash val="solid"/>
          </a:ln>
        </p:spPr>
      </p:sp>
      <p:sp>
        <p:nvSpPr>
          <p:cNvPr id="20" name="token-label-2-1"/>
          <p:cNvSpPr txBox="1"/>
          <p:nvPr/>
        </p:nvSpPr>
        <p:spPr>
          <a:xfrm>
            <a:off x="10795000" y="4025900"/>
            <a:ext cx="660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820000"/>
                </a:solidFill>
                <a:latin typeface="Arial Unicode MS"/>
                <a:ea typeface="Arial Unicode MS"/>
              </a:rPr>
              <a:t>z3</a:t>
            </a:r>
            <a:endParaRPr lang="en-US" sz="20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edge-0-0"/>
          <p:cNvSpPr/>
          <p:nvPr/>
        </p:nvSpPr>
        <p:spPr>
          <a:xfrm>
            <a:off x="8839200" y="2908300"/>
            <a:ext cx="254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270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edge-0-1"/>
          <p:cNvSpPr/>
          <p:nvPr/>
        </p:nvSpPr>
        <p:spPr>
          <a:xfrm>
            <a:off x="8839200" y="2908300"/>
            <a:ext cx="114300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270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edge-0-2"/>
          <p:cNvSpPr/>
          <p:nvPr/>
        </p:nvSpPr>
        <p:spPr>
          <a:xfrm>
            <a:off x="8839200" y="2908300"/>
            <a:ext cx="228600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270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edge-1-0"/>
          <p:cNvSpPr/>
          <p:nvPr/>
        </p:nvSpPr>
        <p:spPr>
          <a:xfrm>
            <a:off x="8839200" y="2908300"/>
            <a:ext cx="114300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270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edge-1-1"/>
          <p:cNvSpPr/>
          <p:nvPr/>
        </p:nvSpPr>
        <p:spPr>
          <a:xfrm>
            <a:off x="9982200" y="2908300"/>
            <a:ext cx="254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270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edge-1-2"/>
          <p:cNvSpPr/>
          <p:nvPr/>
        </p:nvSpPr>
        <p:spPr>
          <a:xfrm>
            <a:off x="9982200" y="2908300"/>
            <a:ext cx="114300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270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edge-2-0"/>
          <p:cNvSpPr/>
          <p:nvPr/>
        </p:nvSpPr>
        <p:spPr>
          <a:xfrm>
            <a:off x="8839200" y="2908300"/>
            <a:ext cx="228600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270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" name="edge-2-1"/>
          <p:cNvSpPr/>
          <p:nvPr/>
        </p:nvSpPr>
        <p:spPr>
          <a:xfrm>
            <a:off x="9982200" y="2908300"/>
            <a:ext cx="114300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270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" name="edge-2-2"/>
          <p:cNvSpPr/>
          <p:nvPr/>
        </p:nvSpPr>
        <p:spPr>
          <a:xfrm>
            <a:off x="11125200" y="2908300"/>
            <a:ext cx="2540" cy="939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270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mini-caption"/>
          <p:cNvSpPr txBox="1"/>
          <p:nvPr/>
        </p:nvSpPr>
        <p:spPr>
          <a:xfrm>
            <a:off x="8382000" y="4927600"/>
            <a:ext cx="3225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各位置直接读取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整段输入的信息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RNN 的序列依赖限制训练并行性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§1–2、§4、表1  论文 p.2,6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02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lead"/>
          <p:cNvSpPr txBox="1"/>
          <p:nvPr/>
        </p:nvSpPr>
        <p:spPr>
          <a:xfrm>
            <a:off x="584200" y="1549400"/>
            <a:ext cx="3454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300" b="1">
                <a:solidFill>
                  <a:srgbClr val="252525"/>
                </a:solidFill>
                <a:latin typeface="Arial Unicode MS"/>
                <a:ea typeface="Arial Unicode MS"/>
              </a:rPr>
              <a:t>远距离关系的信号</a:t>
            </a:r>
            <a:endParaRPr lang="en-US" sz="2300" b="1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300" b="1">
                <a:solidFill>
                  <a:srgbClr val="252525"/>
                </a:solidFill>
                <a:latin typeface="Arial Unicode MS"/>
                <a:ea typeface="Arial Unicode MS"/>
              </a:rPr>
              <a:t>要经过多少计算步骤？</a:t>
            </a:r>
            <a:endParaRPr lang="en-US" sz="23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8" name="body"/>
          <p:cNvSpPr txBox="1"/>
          <p:nvPr/>
        </p:nvSpPr>
        <p:spPr>
          <a:xfrm>
            <a:off x="584200" y="3263900"/>
            <a:ext cx="3454400" cy="2197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RNN 的下一状态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依赖前一状态。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自注意力在一层内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连接全部输入位置。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rnn-label"/>
          <p:cNvSpPr txBox="1"/>
          <p:nvPr/>
        </p:nvSpPr>
        <p:spPr>
          <a:xfrm>
            <a:off x="4546600" y="1498600"/>
            <a:ext cx="693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循环层：串行步骤 O(n)，最长路径 O(n)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rnn-0-box"/>
          <p:cNvSpPr/>
          <p:nvPr/>
        </p:nvSpPr>
        <p:spPr>
          <a:xfrm>
            <a:off x="4699000" y="2222500"/>
            <a:ext cx="1168400" cy="6604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1" name="rnn-0-label"/>
          <p:cNvSpPr txBox="1"/>
          <p:nvPr/>
        </p:nvSpPr>
        <p:spPr>
          <a:xfrm>
            <a:off x="4800600" y="2324100"/>
            <a:ext cx="965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h1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rnn-link-0"/>
          <p:cNvSpPr/>
          <p:nvPr/>
        </p:nvSpPr>
        <p:spPr>
          <a:xfrm>
            <a:off x="5867400" y="2552700"/>
            <a:ext cx="508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" name="rnn-1-box"/>
          <p:cNvSpPr/>
          <p:nvPr/>
        </p:nvSpPr>
        <p:spPr>
          <a:xfrm>
            <a:off x="6413500" y="2222500"/>
            <a:ext cx="1168400" cy="6604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4" name="rnn-1-label"/>
          <p:cNvSpPr txBox="1"/>
          <p:nvPr/>
        </p:nvSpPr>
        <p:spPr>
          <a:xfrm>
            <a:off x="6515100" y="2324100"/>
            <a:ext cx="965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h2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rnn-link-1"/>
          <p:cNvSpPr/>
          <p:nvPr/>
        </p:nvSpPr>
        <p:spPr>
          <a:xfrm>
            <a:off x="7581900" y="2552700"/>
            <a:ext cx="508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rnn-2-box"/>
          <p:cNvSpPr/>
          <p:nvPr/>
        </p:nvSpPr>
        <p:spPr>
          <a:xfrm>
            <a:off x="8128000" y="2222500"/>
            <a:ext cx="1168400" cy="6604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7" name="rnn-2-label"/>
          <p:cNvSpPr txBox="1"/>
          <p:nvPr/>
        </p:nvSpPr>
        <p:spPr>
          <a:xfrm>
            <a:off x="8229600" y="2324100"/>
            <a:ext cx="965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h3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rnn-link-2"/>
          <p:cNvSpPr/>
          <p:nvPr/>
        </p:nvSpPr>
        <p:spPr>
          <a:xfrm>
            <a:off x="9296400" y="2552700"/>
            <a:ext cx="508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" name="rnn-3-box"/>
          <p:cNvSpPr/>
          <p:nvPr/>
        </p:nvSpPr>
        <p:spPr>
          <a:xfrm>
            <a:off x="9842500" y="2222500"/>
            <a:ext cx="1168400" cy="6604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0" name="rnn-3-label"/>
          <p:cNvSpPr txBox="1"/>
          <p:nvPr/>
        </p:nvSpPr>
        <p:spPr>
          <a:xfrm>
            <a:off x="9944100" y="2324100"/>
            <a:ext cx="965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h4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attention-label"/>
          <p:cNvSpPr txBox="1"/>
          <p:nvPr/>
        </p:nvSpPr>
        <p:spPr>
          <a:xfrm>
            <a:off x="4546600" y="3606800"/>
            <a:ext cx="693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自注意力：串行步骤 O(1)，最长路径 O(1)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attn-in-0-box"/>
          <p:cNvSpPr/>
          <p:nvPr/>
        </p:nvSpPr>
        <p:spPr>
          <a:xfrm>
            <a:off x="4699000" y="4394200"/>
            <a:ext cx="11684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3" name="attn-in-0-label"/>
          <p:cNvSpPr txBox="1"/>
          <p:nvPr/>
        </p:nvSpPr>
        <p:spPr>
          <a:xfrm>
            <a:off x="4800600" y="4495800"/>
            <a:ext cx="965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x1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attn-out-0-box"/>
          <p:cNvSpPr/>
          <p:nvPr/>
        </p:nvSpPr>
        <p:spPr>
          <a:xfrm>
            <a:off x="4699000" y="5537200"/>
            <a:ext cx="1168400" cy="5461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5" name="attn-out-0-label"/>
          <p:cNvSpPr txBox="1"/>
          <p:nvPr/>
        </p:nvSpPr>
        <p:spPr>
          <a:xfrm>
            <a:off x="4800600" y="5638800"/>
            <a:ext cx="965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z1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6" name="attn-edge-0-0"/>
          <p:cNvSpPr/>
          <p:nvPr/>
        </p:nvSpPr>
        <p:spPr>
          <a:xfrm>
            <a:off x="5283200" y="4940300"/>
            <a:ext cx="254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attn-edge-0-1"/>
          <p:cNvSpPr/>
          <p:nvPr/>
        </p:nvSpPr>
        <p:spPr>
          <a:xfrm>
            <a:off x="5283200" y="4940300"/>
            <a:ext cx="17145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" name="attn-edge-0-2"/>
          <p:cNvSpPr/>
          <p:nvPr/>
        </p:nvSpPr>
        <p:spPr>
          <a:xfrm>
            <a:off x="5283200" y="4940300"/>
            <a:ext cx="34290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" name="attn-edge-0-3"/>
          <p:cNvSpPr/>
          <p:nvPr/>
        </p:nvSpPr>
        <p:spPr>
          <a:xfrm>
            <a:off x="5283200" y="4940300"/>
            <a:ext cx="51435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attn-in-1-box"/>
          <p:cNvSpPr/>
          <p:nvPr/>
        </p:nvSpPr>
        <p:spPr>
          <a:xfrm>
            <a:off x="6413500" y="4394200"/>
            <a:ext cx="11684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31" name="attn-in-1-label"/>
          <p:cNvSpPr txBox="1"/>
          <p:nvPr/>
        </p:nvSpPr>
        <p:spPr>
          <a:xfrm>
            <a:off x="6515100" y="4495800"/>
            <a:ext cx="965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x2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2" name="attn-out-1-box"/>
          <p:cNvSpPr/>
          <p:nvPr/>
        </p:nvSpPr>
        <p:spPr>
          <a:xfrm>
            <a:off x="6413500" y="5537200"/>
            <a:ext cx="1168400" cy="5461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33" name="attn-out-1-label"/>
          <p:cNvSpPr txBox="1"/>
          <p:nvPr/>
        </p:nvSpPr>
        <p:spPr>
          <a:xfrm>
            <a:off x="6515100" y="5638800"/>
            <a:ext cx="965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z2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4" name="attn-edge-1-0"/>
          <p:cNvSpPr/>
          <p:nvPr/>
        </p:nvSpPr>
        <p:spPr>
          <a:xfrm>
            <a:off x="5283200" y="4940300"/>
            <a:ext cx="17145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" name="attn-edge-1-1"/>
          <p:cNvSpPr/>
          <p:nvPr/>
        </p:nvSpPr>
        <p:spPr>
          <a:xfrm>
            <a:off x="6997700" y="4940300"/>
            <a:ext cx="254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" name="attn-edge-1-2"/>
          <p:cNvSpPr/>
          <p:nvPr/>
        </p:nvSpPr>
        <p:spPr>
          <a:xfrm>
            <a:off x="6997700" y="4940300"/>
            <a:ext cx="17145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" name="attn-edge-1-3"/>
          <p:cNvSpPr/>
          <p:nvPr/>
        </p:nvSpPr>
        <p:spPr>
          <a:xfrm>
            <a:off x="6997700" y="4940300"/>
            <a:ext cx="34290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" name="attn-in-2-box"/>
          <p:cNvSpPr/>
          <p:nvPr/>
        </p:nvSpPr>
        <p:spPr>
          <a:xfrm>
            <a:off x="8128000" y="4394200"/>
            <a:ext cx="11684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39" name="attn-in-2-label"/>
          <p:cNvSpPr txBox="1"/>
          <p:nvPr/>
        </p:nvSpPr>
        <p:spPr>
          <a:xfrm>
            <a:off x="8229600" y="4495800"/>
            <a:ext cx="965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x3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40" name="attn-out-2-box"/>
          <p:cNvSpPr/>
          <p:nvPr/>
        </p:nvSpPr>
        <p:spPr>
          <a:xfrm>
            <a:off x="8128000" y="5537200"/>
            <a:ext cx="1168400" cy="5461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41" name="attn-out-2-label"/>
          <p:cNvSpPr txBox="1"/>
          <p:nvPr/>
        </p:nvSpPr>
        <p:spPr>
          <a:xfrm>
            <a:off x="8229600" y="5638800"/>
            <a:ext cx="965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z3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42" name="attn-edge-2-0"/>
          <p:cNvSpPr/>
          <p:nvPr/>
        </p:nvSpPr>
        <p:spPr>
          <a:xfrm>
            <a:off x="5283200" y="4940300"/>
            <a:ext cx="34290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" name="attn-edge-2-1"/>
          <p:cNvSpPr/>
          <p:nvPr/>
        </p:nvSpPr>
        <p:spPr>
          <a:xfrm>
            <a:off x="6997700" y="4940300"/>
            <a:ext cx="17145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" name="attn-edge-2-2"/>
          <p:cNvSpPr/>
          <p:nvPr/>
        </p:nvSpPr>
        <p:spPr>
          <a:xfrm>
            <a:off x="8712200" y="4940300"/>
            <a:ext cx="254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" name="attn-edge-2-3"/>
          <p:cNvSpPr/>
          <p:nvPr/>
        </p:nvSpPr>
        <p:spPr>
          <a:xfrm>
            <a:off x="8712200" y="4940300"/>
            <a:ext cx="17145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" name="attn-in-3-box"/>
          <p:cNvSpPr/>
          <p:nvPr/>
        </p:nvSpPr>
        <p:spPr>
          <a:xfrm>
            <a:off x="9842500" y="4394200"/>
            <a:ext cx="11684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47" name="attn-in-3-label"/>
          <p:cNvSpPr txBox="1"/>
          <p:nvPr/>
        </p:nvSpPr>
        <p:spPr>
          <a:xfrm>
            <a:off x="9944100" y="4495800"/>
            <a:ext cx="965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x4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48" name="attn-out-3-box"/>
          <p:cNvSpPr/>
          <p:nvPr/>
        </p:nvSpPr>
        <p:spPr>
          <a:xfrm>
            <a:off x="9842500" y="5537200"/>
            <a:ext cx="1168400" cy="5461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49" name="attn-out-3-label"/>
          <p:cNvSpPr txBox="1"/>
          <p:nvPr/>
        </p:nvSpPr>
        <p:spPr>
          <a:xfrm>
            <a:off x="9944100" y="5638800"/>
            <a:ext cx="965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z4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50" name="attn-edge-3-0"/>
          <p:cNvSpPr/>
          <p:nvPr/>
        </p:nvSpPr>
        <p:spPr>
          <a:xfrm>
            <a:off x="5283200" y="4940300"/>
            <a:ext cx="51435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" name="attn-edge-3-1"/>
          <p:cNvSpPr/>
          <p:nvPr/>
        </p:nvSpPr>
        <p:spPr>
          <a:xfrm>
            <a:off x="6997700" y="4940300"/>
            <a:ext cx="34290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" name="attn-edge-3-2"/>
          <p:cNvSpPr/>
          <p:nvPr/>
        </p:nvSpPr>
        <p:spPr>
          <a:xfrm>
            <a:off x="8712200" y="4940300"/>
            <a:ext cx="171450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" name="attn-edge-3-3"/>
          <p:cNvSpPr/>
          <p:nvPr/>
        </p:nvSpPr>
        <p:spPr>
          <a:xfrm>
            <a:off x="10426700" y="4940300"/>
            <a:ext cx="2540" cy="571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016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编码器与自回归解码器构成 Transformer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§3–3.1、图1  论文 p.2,3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03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encoder-tag"/>
          <p:cNvSpPr txBox="1"/>
          <p:nvPr/>
        </p:nvSpPr>
        <p:spPr>
          <a:xfrm>
            <a:off x="939800" y="1447800"/>
            <a:ext cx="34290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编码器：6 层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8" name="decoder-tag"/>
          <p:cNvSpPr txBox="1"/>
          <p:nvPr/>
        </p:nvSpPr>
        <p:spPr>
          <a:xfrm>
            <a:off x="6019800" y="1447800"/>
            <a:ext cx="41910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解码器：6 层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9" name="enc-embed-box"/>
          <p:cNvSpPr/>
          <p:nvPr/>
        </p:nvSpPr>
        <p:spPr>
          <a:xfrm>
            <a:off x="939800" y="5295900"/>
            <a:ext cx="3429000" cy="6096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enc-embed-label"/>
          <p:cNvSpPr txBox="1"/>
          <p:nvPr/>
        </p:nvSpPr>
        <p:spPr>
          <a:xfrm>
            <a:off x="1041400" y="5397500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源词嵌入 + 位置编码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enc-attn-box"/>
          <p:cNvSpPr/>
          <p:nvPr/>
        </p:nvSpPr>
        <p:spPr>
          <a:xfrm>
            <a:off x="939800" y="3835400"/>
            <a:ext cx="3429000" cy="6096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2" name="enc-attn-label"/>
          <p:cNvSpPr txBox="1"/>
          <p:nvPr/>
        </p:nvSpPr>
        <p:spPr>
          <a:xfrm>
            <a:off x="1041400" y="3937000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多头自注意力 + Add &amp; Norm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enc-ffn-box"/>
          <p:cNvSpPr/>
          <p:nvPr/>
        </p:nvSpPr>
        <p:spPr>
          <a:xfrm>
            <a:off x="939800" y="2603500"/>
            <a:ext cx="3429000" cy="6096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4" name="enc-ffn-label"/>
          <p:cNvSpPr txBox="1"/>
          <p:nvPr/>
        </p:nvSpPr>
        <p:spPr>
          <a:xfrm>
            <a:off x="1041400" y="2705100"/>
            <a:ext cx="3225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逐位置 FFN + Add &amp; Norm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enc-1"/>
          <p:cNvSpPr/>
          <p:nvPr/>
        </p:nvSpPr>
        <p:spPr>
          <a:xfrm>
            <a:off x="2654300" y="4495800"/>
            <a:ext cx="2540" cy="7874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enc-2"/>
          <p:cNvSpPr/>
          <p:nvPr/>
        </p:nvSpPr>
        <p:spPr>
          <a:xfrm>
            <a:off x="2654300" y="3263900"/>
            <a:ext cx="2540" cy="558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" name="enc-output"/>
          <p:cNvSpPr txBox="1"/>
          <p:nvPr/>
        </p:nvSpPr>
        <p:spPr>
          <a:xfrm>
            <a:off x="927100" y="2032000"/>
            <a:ext cx="34290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整段输入的表示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enc-3"/>
          <p:cNvSpPr/>
          <p:nvPr/>
        </p:nvSpPr>
        <p:spPr>
          <a:xfrm>
            <a:off x="2654300" y="2387600"/>
            <a:ext cx="2540" cy="2032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" name="dec-embed-box"/>
          <p:cNvSpPr/>
          <p:nvPr/>
        </p:nvSpPr>
        <p:spPr>
          <a:xfrm>
            <a:off x="6019800" y="5448300"/>
            <a:ext cx="4191000" cy="4826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0" name="dec-embed-label"/>
          <p:cNvSpPr txBox="1"/>
          <p:nvPr/>
        </p:nvSpPr>
        <p:spPr>
          <a:xfrm>
            <a:off x="6121400" y="5549900"/>
            <a:ext cx="3987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右移目标嵌入 + 位置编码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dec-self-box"/>
          <p:cNvSpPr/>
          <p:nvPr/>
        </p:nvSpPr>
        <p:spPr>
          <a:xfrm>
            <a:off x="6019800" y="4521200"/>
            <a:ext cx="41910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dec-self-label"/>
          <p:cNvSpPr txBox="1"/>
          <p:nvPr/>
        </p:nvSpPr>
        <p:spPr>
          <a:xfrm>
            <a:off x="6121400" y="4622800"/>
            <a:ext cx="3987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带因果 Mask 的多头自注意力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dec-cross-box"/>
          <p:cNvSpPr/>
          <p:nvPr/>
        </p:nvSpPr>
        <p:spPr>
          <a:xfrm>
            <a:off x="6019800" y="3594100"/>
            <a:ext cx="41910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4" name="dec-cross-label"/>
          <p:cNvSpPr txBox="1"/>
          <p:nvPr/>
        </p:nvSpPr>
        <p:spPr>
          <a:xfrm>
            <a:off x="6121400" y="3695700"/>
            <a:ext cx="3987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对编码器输出做多头交叉注意力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5" name="dec-ffn-box"/>
          <p:cNvSpPr/>
          <p:nvPr/>
        </p:nvSpPr>
        <p:spPr>
          <a:xfrm>
            <a:off x="6019800" y="2667000"/>
            <a:ext cx="41910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6" name="dec-ffn-label"/>
          <p:cNvSpPr txBox="1"/>
          <p:nvPr/>
        </p:nvSpPr>
        <p:spPr>
          <a:xfrm>
            <a:off x="6121400" y="2768600"/>
            <a:ext cx="3987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逐位置 FFN + Add &amp; Norm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dec-softmax-box"/>
          <p:cNvSpPr/>
          <p:nvPr/>
        </p:nvSpPr>
        <p:spPr>
          <a:xfrm>
            <a:off x="6019800" y="1866900"/>
            <a:ext cx="4191000" cy="4953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8" name="dec-softmax-label"/>
          <p:cNvSpPr txBox="1"/>
          <p:nvPr/>
        </p:nvSpPr>
        <p:spPr>
          <a:xfrm>
            <a:off x="6121400" y="1968500"/>
            <a:ext cx="3987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Linear + Softmax：下一词概率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9" name="d1"/>
          <p:cNvSpPr/>
          <p:nvPr/>
        </p:nvSpPr>
        <p:spPr>
          <a:xfrm>
            <a:off x="8115300" y="5130800"/>
            <a:ext cx="2540" cy="317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" name="d2"/>
          <p:cNvSpPr/>
          <p:nvPr/>
        </p:nvSpPr>
        <p:spPr>
          <a:xfrm>
            <a:off x="8115300" y="4203700"/>
            <a:ext cx="2540" cy="317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" name="d3"/>
          <p:cNvSpPr/>
          <p:nvPr/>
        </p:nvSpPr>
        <p:spPr>
          <a:xfrm>
            <a:off x="8115300" y="3276600"/>
            <a:ext cx="2540" cy="317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" name="d4"/>
          <p:cNvSpPr/>
          <p:nvPr/>
        </p:nvSpPr>
        <p:spPr>
          <a:xfrm>
            <a:off x="8115300" y="2413000"/>
            <a:ext cx="2540" cy="2540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" name="kv-horizontal"/>
          <p:cNvSpPr/>
          <p:nvPr/>
        </p:nvSpPr>
        <p:spPr>
          <a:xfrm>
            <a:off x="4368800" y="2298700"/>
            <a:ext cx="876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905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" name="kv-vertical"/>
          <p:cNvSpPr/>
          <p:nvPr/>
        </p:nvSpPr>
        <p:spPr>
          <a:xfrm>
            <a:off x="5245100" y="2298700"/>
            <a:ext cx="2540" cy="15748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9050">
            <a:solidFill>
              <a:srgbClr val="E6913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" name="kv-enter"/>
          <p:cNvSpPr/>
          <p:nvPr/>
        </p:nvSpPr>
        <p:spPr>
          <a:xfrm>
            <a:off x="5245100" y="3873500"/>
            <a:ext cx="7239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9050">
            <a:solidFill>
              <a:srgbClr val="E6913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" name="kv-label"/>
          <p:cNvSpPr txBox="1"/>
          <p:nvPr/>
        </p:nvSpPr>
        <p:spPr>
          <a:xfrm>
            <a:off x="4521200" y="2959100"/>
            <a:ext cx="12573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E69138"/>
                </a:solidFill>
                <a:latin typeface="Arial Unicode MS"/>
                <a:ea typeface="Arial Unicode MS"/>
              </a:rPr>
              <a:t>K / V</a:t>
            </a:r>
            <a:endParaRPr lang="en-US" sz="1700" b="1">
              <a:solidFill>
                <a:srgbClr val="E69138"/>
              </a:solidFill>
              <a:latin typeface="Arial Unicode MS"/>
              <a:ea typeface="Arial Unicode MS"/>
            </a:endParaRPr>
          </a:p>
        </p:txBody>
      </p:sp>
      <p:sp>
        <p:nvSpPr>
          <p:cNvPr id="37" name="postln-note"/>
          <p:cNvSpPr txBox="1"/>
          <p:nvPr/>
        </p:nvSpPr>
        <p:spPr>
          <a:xfrm>
            <a:off x="10579100" y="2324100"/>
            <a:ext cx="965200" cy="340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每个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子层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均接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残差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与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归一化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Attention 把匹配分数变成加权和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§3.2.1、式(1)、图2  论文 p.4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04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mc:AlternateContent>
        <mc:Choice Requires="a14">
          <p:sp>
            <p:nvSpPr>
              <p:cNvPr id="7" name="formula"/>
              <p:cNvSpPr txBox="1"/>
              <p:nvPr/>
            </p:nvSpPr>
            <p:spPr>
              <a:xfrm>
                <a:off x="584200" y="1447800"/>
                <a:ext cx="11023600" cy="12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Attention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Q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softmax</m:t>
                    </m:r>
                    <m:d>
                      <m:dPr>
                        <m:begChr m:val="("/>
                        <m:endChr m:val=")"/>
                        <m:grow m:val="1"/>
                        <m:ctrl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sz="27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i"/>
                              </m:rPr>
                              <a:rPr sz="2700" i="1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Q</m:t>
                            </m:r>
                            <m:sSup>
                              <m:sSupPr>
                                <m:ctrlPr>
                                  <a:rPr sz="27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i"/>
                                  </m:rPr>
                                  <a:rPr sz="2700" i="1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K</m:t>
                                </m:r>
                              </m:e>
                              <m:sup>
                                <m:r>
                                  <m:rPr>
                                    <m:sty m:val="i"/>
                                  </m:rPr>
                                  <a:rPr sz="2700" i="1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T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1"/>
                                <m:ctrlPr>
                                  <a:rPr sz="27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sz="2700" i="0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sz="27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sz="27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V</m:t>
                    </m:r>
                  </m:oMath>
                </a14:m>
                <a:endParaRPr lang="en-US" sz="27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7" name="formula"/>
              <p:cNvSpPr txBox="1"/>
              <p:nvPr/>
            </p:nvSpPr>
            <p:spPr>
              <a:xfrm>
                <a:off x="584200" y="1447800"/>
                <a:ext cx="11023600" cy="12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7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\(\operatorname{Attention}(Q,K,V)=\operatorname{softmax}\left(\frac{QK^T}{\sqrt{d_k}}\right)V\)</a:t>
                </a:r>
                <a:endParaRPr lang="en-US" sz="27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  <p:sp>
        <p:nvSpPr>
          <p:cNvPr id="8" name="score-box"/>
          <p:cNvSpPr/>
          <p:nvPr/>
        </p:nvSpPr>
        <p:spPr>
          <a:xfrm>
            <a:off x="584200" y="3454400"/>
            <a:ext cx="2997200" cy="8382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9" name="score-label"/>
          <p:cNvSpPr txBox="1"/>
          <p:nvPr/>
        </p:nvSpPr>
        <p:spPr>
          <a:xfrm>
            <a:off x="685800" y="35560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1  计算匹配分数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Q 与 K 做点积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weights-box"/>
          <p:cNvSpPr/>
          <p:nvPr/>
        </p:nvSpPr>
        <p:spPr>
          <a:xfrm>
            <a:off x="4419600" y="3454400"/>
            <a:ext cx="2997200" cy="8382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1" name="weights-label"/>
          <p:cNvSpPr txBox="1"/>
          <p:nvPr/>
        </p:nvSpPr>
        <p:spPr>
          <a:xfrm>
            <a:off x="4521200" y="35560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  缩放并归一化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每行得到权重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read-box"/>
          <p:cNvSpPr/>
          <p:nvPr/>
        </p:nvSpPr>
        <p:spPr>
          <a:xfrm>
            <a:off x="8255000" y="3454400"/>
            <a:ext cx="3352800" cy="8382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3" name="read-label"/>
          <p:cNvSpPr txBox="1"/>
          <p:nvPr/>
        </p:nvSpPr>
        <p:spPr>
          <a:xfrm>
            <a:off x="8356600" y="3556000"/>
            <a:ext cx="3149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3  按权重聚合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读取 V 中的内容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step12"/>
          <p:cNvSpPr/>
          <p:nvPr/>
        </p:nvSpPr>
        <p:spPr>
          <a:xfrm>
            <a:off x="3632200" y="3873500"/>
            <a:ext cx="711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step23"/>
          <p:cNvSpPr/>
          <p:nvPr/>
        </p:nvSpPr>
        <p:spPr>
          <a:xfrm>
            <a:off x="7467600" y="3873500"/>
            <a:ext cx="711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905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qkv-key"/>
          <p:cNvSpPr txBox="1"/>
          <p:nvPr/>
        </p:nvSpPr>
        <p:spPr>
          <a:xfrm>
            <a:off x="584200" y="2730500"/>
            <a:ext cx="11023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100">
                <a:solidFill>
                  <a:srgbClr val="252525"/>
                </a:solidFill>
                <a:latin typeface="Arial Unicode MS"/>
                <a:ea typeface="Arial Unicode MS"/>
              </a:rPr>
              <a:t>Q：查询     K：匹配线索     V：被读取的内容</a:t>
            </a:r>
            <a:endParaRPr lang="en-US" sz="21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scale-caption"/>
          <p:cNvSpPr txBox="1"/>
          <p:nvPr/>
        </p:nvSpPr>
        <p:spPr>
          <a:xfrm>
            <a:off x="584200" y="4775200"/>
            <a:ext cx="37211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缩放避免点积分数过大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scale-explanation"/>
          <p:cNvSpPr txBox="1"/>
          <p:nvPr/>
        </p:nvSpPr>
        <p:spPr>
          <a:xfrm>
            <a:off x="584200" y="5461000"/>
            <a:ext cx="37211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缓解 softmax 梯度过小。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mc:AlternateContent>
        <mc:Choice Requires="a14">
          <p:sp>
            <p:nvSpPr>
              <p:cNvPr id="19" name="scale-equation"/>
              <p:cNvSpPr txBox="1"/>
              <p:nvPr/>
            </p:nvSpPr>
            <p:spPr>
              <a:xfrm>
                <a:off x="4660900" y="4711700"/>
                <a:ext cx="69469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000">
                    <a:solidFill>
                      <a:srgbClr val="6D6D6D"/>
                    </a:solidFill>
                    <a:latin typeface="Arial Unicode MS"/>
                    <a:ea typeface="Arial Unicode MS"/>
                  </a:rPr>
                  <a:t>独立、零均值、单位方差假设下：</a:t>
                </a:r>
                <a:endParaRPr lang="en-US" sz="2000">
                  <a:solidFill>
                    <a:srgbClr val="6D6D6D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p"/>
                      </m:rPr>
                      <a:rPr sz="2000" i="0" b="0">
                        <a:solidFill>
                          <a:srgbClr val="6D6D6D"/>
                        </a:solidFill>
                        <a:latin typeface="Cambria Math"/>
                      </a:rPr>
                      <m:t>Var</m:t>
                    </m:r>
                    <m:r>
                      <m:rPr>
                        <m:sty m:val="p"/>
                      </m:rPr>
                      <a:rPr sz="2000" i="0" b="0">
                        <a:solidFill>
                          <a:srgbClr val="6D6D6D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000" i="1" b="0">
                        <a:solidFill>
                          <a:srgbClr val="6D6D6D"/>
                        </a:solidFill>
                        <a:latin typeface="Cambria Math"/>
                      </a:rPr>
                      <m:t>q</m:t>
                    </m:r>
                    <m:r>
                      <m:rPr>
                        <m:sty m:val="p"/>
                      </m:rPr>
                      <a:rPr sz="2000" i="0" b="0">
                        <a:solidFill>
                          <a:srgbClr val="6D6D6D"/>
                        </a:solidFill>
                        <a:latin typeface="Cambria Math"/>
                      </a:rPr>
                      <m:t>·</m:t>
                    </m:r>
                    <m:r>
                      <m:rPr>
                        <m:sty m:val="i"/>
                      </m:rPr>
                      <a:rPr sz="2000" i="1" b="0">
                        <a:solidFill>
                          <a:srgbClr val="6D6D6D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sz="2000" i="0" b="0">
                        <a:solidFill>
                          <a:srgbClr val="6D6D6D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000" i="0" b="0">
                        <a:solidFill>
                          <a:srgbClr val="6D6D6D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sz="2000" i="0" b="0">
                            <a:solidFill>
                              <a:srgbClr val="6D6D6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sz="2000" i="1" b="0">
                            <a:solidFill>
                              <a:srgbClr val="6D6D6D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sty m:val="i"/>
                          </m:rPr>
                          <a:rPr sz="2000" i="1" b="0">
                            <a:solidFill>
                              <a:srgbClr val="6D6D6D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endParaRPr lang="en-US" sz="2000">
                  <a:solidFill>
                    <a:srgbClr val="6D6D6D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19" name="scale-equation"/>
              <p:cNvSpPr txBox="1"/>
              <p:nvPr/>
            </p:nvSpPr>
            <p:spPr>
              <a:xfrm>
                <a:off x="4660900" y="4711700"/>
                <a:ext cx="69469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000">
                    <a:solidFill>
                      <a:srgbClr val="6D6D6D"/>
                    </a:solidFill>
                    <a:latin typeface="Arial Unicode MS"/>
                    <a:ea typeface="Arial Unicode MS"/>
                  </a:rPr>
                  <a:t>独立、零均值、单位方差假设下：</a:t>
                </a:r>
                <a:endParaRPr lang="en-US" sz="2000">
                  <a:solidFill>
                    <a:srgbClr val="6D6D6D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en-US" sz="2000">
                    <a:solidFill>
                      <a:srgbClr val="6D6D6D"/>
                    </a:solidFill>
                    <a:latin typeface="Arial Unicode MS"/>
                    <a:ea typeface="Arial Unicode MS"/>
                  </a:rPr>
                  <a:t>\(\operatorname{Var}(q\cdot k)=d_k\)</a:t>
                </a:r>
                <a:endParaRPr lang="en-US" sz="2000">
                  <a:solidFill>
                    <a:srgbClr val="6D6D6D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一个查询直接汇总不同位置的内容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§3.2.1 的教学示例  论文 p.4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05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toy-notice"/>
          <p:cNvSpPr txBox="1"/>
          <p:nvPr/>
        </p:nvSpPr>
        <p:spPr>
          <a:xfrm>
            <a:off x="584200" y="1384300"/>
            <a:ext cx="11023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6D6D6D"/>
                </a:solidFill>
                <a:latin typeface="Arial Unicode MS"/>
                <a:ea typeface="Arial Unicode MS"/>
              </a:rPr>
              <a:t>手工教学数值，非论文实验或模型输出</a:t>
            </a:r>
            <a:endParaRPr lang="en-US" sz="17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mc:AlternateContent>
        <mc:Choice Requires="a14">
          <p:sp>
            <p:nvSpPr>
              <p:cNvPr id="8" name="query"/>
              <p:cNvSpPr txBox="1"/>
              <p:nvPr/>
            </p:nvSpPr>
            <p:spPr>
              <a:xfrm>
                <a:off x="584200" y="2108200"/>
                <a:ext cx="2603500" cy="14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100" b="1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查询 Q=[1]</a:t>
                </a:r>
                <a:endParaRPr lang="en-US" sz="2100" b="1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14:m>
                  <m:oMath>
                    <m:sSub>
                      <m:sSubPr>
                        <m:ctrlPr>
                          <a:rPr sz="21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sz="21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sty m:val="i"/>
                          </m:rPr>
                          <a:rPr sz="21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a:rPr sz="2100" i="0" b="0">
                        <a:solidFill>
                          <a:srgbClr val="82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sz="2100" i="0" b="0">
                        <a:solidFill>
                          <a:srgbClr val="820000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en-US" sz="2100" b="1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en-US" sz="2100" b="1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读取三个位置</a:t>
                </a:r>
                <a:endParaRPr lang="en-US" sz="2100" b="1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8" name="query"/>
              <p:cNvSpPr txBox="1"/>
              <p:nvPr/>
            </p:nvSpPr>
            <p:spPr>
              <a:xfrm>
                <a:off x="584200" y="2108200"/>
                <a:ext cx="2603500" cy="14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100" b="1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查询 Q=[1]</a:t>
                </a:r>
                <a:endParaRPr lang="en-US" sz="2100" b="1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en-US" sz="2100" b="1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\(d_k=1\)</a:t>
                </a:r>
                <a:endParaRPr lang="en-US" sz="2100" b="1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en-US" sz="2100" b="1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读取三个位置</a:t>
                </a:r>
                <a:endParaRPr lang="en-US" sz="2100" b="1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  <p:sp>
        <p:nvSpPr>
          <p:cNvPr id="9" name="toy-top"/>
          <p:cNvSpPr/>
          <p:nvPr/>
        </p:nvSpPr>
        <p:spPr>
          <a:xfrm>
            <a:off x="3683000" y="1917700"/>
            <a:ext cx="79248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toy-0-0"/>
          <p:cNvSpPr txBox="1"/>
          <p:nvPr/>
        </p:nvSpPr>
        <p:spPr>
          <a:xfrm>
            <a:off x="3784600" y="2019300"/>
            <a:ext cx="162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位置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toy-0-1"/>
          <p:cNvSpPr txBox="1"/>
          <p:nvPr/>
        </p:nvSpPr>
        <p:spPr>
          <a:xfrm>
            <a:off x="5613400" y="20193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K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toy-0-2"/>
          <p:cNvSpPr txBox="1"/>
          <p:nvPr/>
        </p:nvSpPr>
        <p:spPr>
          <a:xfrm>
            <a:off x="7670800" y="20193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V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toy-0-3"/>
          <p:cNvSpPr txBox="1"/>
          <p:nvPr/>
        </p:nvSpPr>
        <p:spPr>
          <a:xfrm>
            <a:off x="9728200" y="20193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权重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toy-header"/>
          <p:cNvSpPr/>
          <p:nvPr/>
        </p:nvSpPr>
        <p:spPr>
          <a:xfrm>
            <a:off x="3683000" y="2540000"/>
            <a:ext cx="79248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toy-hi-1"/>
          <p:cNvSpPr/>
          <p:nvPr/>
        </p:nvSpPr>
        <p:spPr>
          <a:xfrm>
            <a:off x="3683000" y="2540000"/>
            <a:ext cx="7924800" cy="622300"/>
          </a:xfrm>
          <a:prstGeom prst="rect">
            <a:avLst/>
          </a:prstGeom>
          <a:solidFill>
            <a:srgbClr val="F4E8E6"/>
          </a:solidFill>
          <a:ln>
            <a:noFill/>
          </a:ln>
        </p:spPr>
      </p:sp>
      <p:sp>
        <p:nvSpPr>
          <p:cNvPr id="16" name="toy-1-0"/>
          <p:cNvSpPr txBox="1"/>
          <p:nvPr/>
        </p:nvSpPr>
        <p:spPr>
          <a:xfrm>
            <a:off x="3784600" y="2641600"/>
            <a:ext cx="162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猫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toy-1-1"/>
          <p:cNvSpPr txBox="1"/>
          <p:nvPr/>
        </p:nvSpPr>
        <p:spPr>
          <a:xfrm>
            <a:off x="5613400" y="26416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2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toy-1-2"/>
          <p:cNvSpPr txBox="1"/>
          <p:nvPr/>
        </p:nvSpPr>
        <p:spPr>
          <a:xfrm>
            <a:off x="7670800" y="26416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(1, 0)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toy-1-3"/>
          <p:cNvSpPr txBox="1"/>
          <p:nvPr/>
        </p:nvSpPr>
        <p:spPr>
          <a:xfrm>
            <a:off x="9728200" y="26416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0.665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0" name="toy-rule-1"/>
          <p:cNvSpPr/>
          <p:nvPr/>
        </p:nvSpPr>
        <p:spPr>
          <a:xfrm>
            <a:off x="3683000" y="3162300"/>
            <a:ext cx="79248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toy-2-0"/>
          <p:cNvSpPr txBox="1"/>
          <p:nvPr/>
        </p:nvSpPr>
        <p:spPr>
          <a:xfrm>
            <a:off x="3784600" y="3263900"/>
            <a:ext cx="162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喝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toy-2-1"/>
          <p:cNvSpPr txBox="1"/>
          <p:nvPr/>
        </p:nvSpPr>
        <p:spPr>
          <a:xfrm>
            <a:off x="5613400" y="32639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0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toy-2-2"/>
          <p:cNvSpPr txBox="1"/>
          <p:nvPr/>
        </p:nvSpPr>
        <p:spPr>
          <a:xfrm>
            <a:off x="7670800" y="32639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(0, 1)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toy-2-3"/>
          <p:cNvSpPr txBox="1"/>
          <p:nvPr/>
        </p:nvSpPr>
        <p:spPr>
          <a:xfrm>
            <a:off x="9728200" y="32639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0.090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5" name="toy-rule-2"/>
          <p:cNvSpPr/>
          <p:nvPr/>
        </p:nvSpPr>
        <p:spPr>
          <a:xfrm>
            <a:off x="3683000" y="3784600"/>
            <a:ext cx="79248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toy-3-0"/>
          <p:cNvSpPr txBox="1"/>
          <p:nvPr/>
        </p:nvSpPr>
        <p:spPr>
          <a:xfrm>
            <a:off x="3784600" y="3886200"/>
            <a:ext cx="162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奶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toy-3-1"/>
          <p:cNvSpPr txBox="1"/>
          <p:nvPr/>
        </p:nvSpPr>
        <p:spPr>
          <a:xfrm>
            <a:off x="5613400" y="38862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1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8" name="toy-3-2"/>
          <p:cNvSpPr txBox="1"/>
          <p:nvPr/>
        </p:nvSpPr>
        <p:spPr>
          <a:xfrm>
            <a:off x="7670800" y="38862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(1, 1)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9" name="toy-3-3"/>
          <p:cNvSpPr txBox="1"/>
          <p:nvPr/>
        </p:nvSpPr>
        <p:spPr>
          <a:xfrm>
            <a:off x="9728200" y="3886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0.245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0" name="toy-bottom"/>
          <p:cNvSpPr/>
          <p:nvPr/>
        </p:nvSpPr>
        <p:spPr>
          <a:xfrm>
            <a:off x="3683000" y="4406900"/>
            <a:ext cx="79248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mc:AlternateContent>
        <mc:Choice Requires="a14">
          <p:sp>
            <p:nvSpPr>
              <p:cNvPr id="31" name="weights-formula"/>
              <p:cNvSpPr txBox="1"/>
              <p:nvPr/>
            </p:nvSpPr>
            <p:spPr>
              <a:xfrm>
                <a:off x="584200" y="4787900"/>
                <a:ext cx="110236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i"/>
                      </m:rPr>
                      <a:rPr sz="2500" i="1" b="0">
                        <a:solidFill>
                          <a:srgbClr val="252525"/>
                        </a:solidFill>
                        <a:latin typeface="Cambria Math"/>
                      </a:rPr>
                      <m:t>α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softmax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[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]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≈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[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6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6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5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9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4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5</m:t>
                    </m:r>
                    <m:r>
                      <m:rPr>
                        <m:sty m:val="p"/>
                      </m:rPr>
                      <a:rPr sz="2500" i="0" b="0">
                        <a:solidFill>
                          <a:srgbClr val="252525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2500">
                  <a:solidFill>
                    <a:srgbClr val="252525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31" name="weights-formula"/>
              <p:cNvSpPr txBox="1"/>
              <p:nvPr/>
            </p:nvSpPr>
            <p:spPr>
              <a:xfrm>
                <a:off x="584200" y="4787900"/>
                <a:ext cx="11023600" cy="7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500">
                    <a:solidFill>
                      <a:srgbClr val="252525"/>
                    </a:solidFill>
                    <a:latin typeface="Arial Unicode MS"/>
                    <a:ea typeface="Arial Unicode MS"/>
                  </a:rPr>
                  <a:t>\(\alpha=\operatorname{softmax}([2,0,1])\approx[0.665,0.090,0.245]\)</a:t>
                </a:r>
                <a:endParaRPr lang="en-US" sz="2500">
                  <a:solidFill>
                    <a:srgbClr val="252525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  <mc:AlternateContent>
        <mc:Choice Requires="a14">
          <p:sp>
            <p:nvSpPr>
              <p:cNvPr id="32" name="result"/>
              <p:cNvSpPr txBox="1"/>
              <p:nvPr/>
            </p:nvSpPr>
            <p:spPr>
              <a:xfrm>
                <a:off x="584200" y="5549900"/>
                <a:ext cx="11023600" cy="6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2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输出：</a:t>
                </a:r>
                <a14:m>
                  <m:oMath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6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6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5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9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2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4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5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≈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9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5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2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32" name="result"/>
              <p:cNvSpPr txBox="1"/>
              <p:nvPr/>
            </p:nvSpPr>
            <p:spPr>
              <a:xfrm>
                <a:off x="584200" y="5549900"/>
                <a:ext cx="11023600" cy="6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2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输出：</a:t>
                </a:r>
                <a:r>
                  <a:rPr lang="en-US" sz="22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\(0.665(1,0)+0.090(0,1)+0.245(1,1)\approx(0.910,0.335)\)</a:t>
                </a:r>
                <a:endParaRPr lang="en-US" sz="22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多头在不同子空间并行读取信息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§3.2.2、图2  论文 p.4,5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06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head-config"/>
          <p:cNvSpPr txBox="1"/>
          <p:nvPr/>
        </p:nvSpPr>
        <p:spPr>
          <a:xfrm>
            <a:off x="584200" y="1498600"/>
            <a:ext cx="3429000" cy="163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252525"/>
                </a:solidFill>
                <a:latin typeface="Arial Unicode MS"/>
                <a:ea typeface="Arial Unicode MS"/>
              </a:rPr>
              <a:t>Base：8 个头</a:t>
            </a:r>
            <a:endParaRPr lang="en-US" sz="2200" b="1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252525"/>
                </a:solidFill>
                <a:latin typeface="Arial Unicode MS"/>
                <a:ea typeface="Arial Unicode MS"/>
              </a:rPr>
              <a:t>模型维度 512</a:t>
            </a:r>
            <a:endParaRPr lang="en-US" sz="2200" b="1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252525"/>
                </a:solidFill>
                <a:latin typeface="Arial Unicode MS"/>
                <a:ea typeface="Arial Unicode MS"/>
              </a:rPr>
              <a:t>每头 K / V 维度 64</a:t>
            </a:r>
            <a:endParaRPr lang="en-US" sz="22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8" name="heads-caption"/>
          <p:cNvSpPr txBox="1"/>
          <p:nvPr/>
        </p:nvSpPr>
        <p:spPr>
          <a:xfrm>
            <a:off x="584200" y="3492500"/>
            <a:ext cx="34290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分开投影，分开聚合。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拼接后，再学习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如何组合各头的信息。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mha-input-box"/>
          <p:cNvSpPr/>
          <p:nvPr/>
        </p:nvSpPr>
        <p:spPr>
          <a:xfrm>
            <a:off x="4800600" y="1600200"/>
            <a:ext cx="2463800" cy="5588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mha-input-label"/>
          <p:cNvSpPr txBox="1"/>
          <p:nvPr/>
        </p:nvSpPr>
        <p:spPr>
          <a:xfrm>
            <a:off x="4902200" y="17018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输入 Q / K / V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fork-top"/>
          <p:cNvSpPr/>
          <p:nvPr/>
        </p:nvSpPr>
        <p:spPr>
          <a:xfrm>
            <a:off x="4267200" y="2209800"/>
            <a:ext cx="1765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12700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fork-spine"/>
          <p:cNvSpPr/>
          <p:nvPr/>
        </p:nvSpPr>
        <p:spPr>
          <a:xfrm>
            <a:off x="4267200" y="2209800"/>
            <a:ext cx="2540" cy="24130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head-0-box"/>
          <p:cNvSpPr/>
          <p:nvPr/>
        </p:nvSpPr>
        <p:spPr>
          <a:xfrm>
            <a:off x="4635500" y="2540000"/>
            <a:ext cx="27940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4" name="head-0-label"/>
          <p:cNvSpPr txBox="1"/>
          <p:nvPr/>
        </p:nvSpPr>
        <p:spPr>
          <a:xfrm>
            <a:off x="4737100" y="2641600"/>
            <a:ext cx="2590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252525"/>
                </a:solidFill>
                <a:latin typeface="Arial Unicode MS"/>
                <a:ea typeface="Arial Unicode MS"/>
              </a:rPr>
              <a:t>头 1：投影与 Attention</a:t>
            </a:r>
            <a:endParaRPr lang="en-US" sz="16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fork-0"/>
          <p:cNvSpPr/>
          <p:nvPr/>
        </p:nvSpPr>
        <p:spPr>
          <a:xfrm>
            <a:off x="4267200" y="2819400"/>
            <a:ext cx="3175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" name="concat-0"/>
          <p:cNvSpPr/>
          <p:nvPr/>
        </p:nvSpPr>
        <p:spPr>
          <a:xfrm>
            <a:off x="7480300" y="2819400"/>
            <a:ext cx="7239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head-1-box"/>
          <p:cNvSpPr/>
          <p:nvPr/>
        </p:nvSpPr>
        <p:spPr>
          <a:xfrm>
            <a:off x="4635500" y="3441700"/>
            <a:ext cx="27940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8" name="head-1-label"/>
          <p:cNvSpPr txBox="1"/>
          <p:nvPr/>
        </p:nvSpPr>
        <p:spPr>
          <a:xfrm>
            <a:off x="4737100" y="3543300"/>
            <a:ext cx="2590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252525"/>
                </a:solidFill>
                <a:latin typeface="Arial Unicode MS"/>
                <a:ea typeface="Arial Unicode MS"/>
              </a:rPr>
              <a:t>头 2：投影与 Attention</a:t>
            </a:r>
            <a:endParaRPr lang="en-US" sz="16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fork-1"/>
          <p:cNvSpPr/>
          <p:nvPr/>
        </p:nvSpPr>
        <p:spPr>
          <a:xfrm>
            <a:off x="4267200" y="3721100"/>
            <a:ext cx="3175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" name="concat-1"/>
          <p:cNvSpPr/>
          <p:nvPr/>
        </p:nvSpPr>
        <p:spPr>
          <a:xfrm>
            <a:off x="7480300" y="3721100"/>
            <a:ext cx="7239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head-2-box"/>
          <p:cNvSpPr/>
          <p:nvPr/>
        </p:nvSpPr>
        <p:spPr>
          <a:xfrm>
            <a:off x="4635500" y="4343400"/>
            <a:ext cx="27940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head-2-label"/>
          <p:cNvSpPr txBox="1"/>
          <p:nvPr/>
        </p:nvSpPr>
        <p:spPr>
          <a:xfrm>
            <a:off x="4737100" y="4445000"/>
            <a:ext cx="2590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252525"/>
                </a:solidFill>
                <a:latin typeface="Arial Unicode MS"/>
                <a:ea typeface="Arial Unicode MS"/>
              </a:rPr>
              <a:t>头 3：投影与 Attention</a:t>
            </a:r>
            <a:endParaRPr lang="en-US" sz="16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fork-2"/>
          <p:cNvSpPr/>
          <p:nvPr/>
        </p:nvSpPr>
        <p:spPr>
          <a:xfrm>
            <a:off x="4267200" y="4622800"/>
            <a:ext cx="3175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" name="concat-2"/>
          <p:cNvSpPr/>
          <p:nvPr/>
        </p:nvSpPr>
        <p:spPr>
          <a:xfrm>
            <a:off x="7480300" y="4622800"/>
            <a:ext cx="7239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concat-spine"/>
          <p:cNvSpPr/>
          <p:nvPr/>
        </p:nvSpPr>
        <p:spPr>
          <a:xfrm>
            <a:off x="8204200" y="2819400"/>
            <a:ext cx="2540" cy="18034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concat-output"/>
          <p:cNvSpPr/>
          <p:nvPr/>
        </p:nvSpPr>
        <p:spPr>
          <a:xfrm>
            <a:off x="8204200" y="3721100"/>
            <a:ext cx="5588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" name="concat-box"/>
          <p:cNvSpPr/>
          <p:nvPr/>
        </p:nvSpPr>
        <p:spPr>
          <a:xfrm>
            <a:off x="8839200" y="3213100"/>
            <a:ext cx="2692400" cy="10160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mc:AlternateContent>
        <mc:Choice Requires="a14">
          <p:sp>
            <p:nvSpPr>
              <p:cNvPr id="28" name="concat-label"/>
              <p:cNvSpPr txBox="1"/>
              <p:nvPr/>
            </p:nvSpPr>
            <p:spPr>
              <a:xfrm>
                <a:off x="8940800" y="3314700"/>
                <a:ext cx="24892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ctr">
                  <a:lnSpc>
                    <a:spcPct val="120000"/>
                  </a:lnSpc>
                </a:pPr>
                <a:r>
                  <a:rPr lang="en-US" sz="1900">
                    <a:solidFill>
                      <a:srgbClr val="252525"/>
                    </a:solidFill>
                    <a:latin typeface="Arial Unicode MS"/>
                    <a:ea typeface="Arial Unicode MS"/>
                  </a:rPr>
                  <a:t>拼接所有头</a:t>
                </a:r>
                <a:endParaRPr lang="en-US" sz="1900">
                  <a:solidFill>
                    <a:srgbClr val="252525"/>
                  </a:solidFill>
                  <a:latin typeface="Arial Unicode MS"/>
                  <a:ea typeface="Arial Unicode MS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sz="1900">
                    <a:solidFill>
                      <a:srgbClr val="252525"/>
                    </a:solidFill>
                    <a:latin typeface="Arial Unicode MS"/>
                    <a:ea typeface="Arial Unicode MS"/>
                  </a:rPr>
                  <a:t>再乘输出投影 </a:t>
                </a:r>
                <a14:m>
                  <m:oMath>
                    <m:sSup>
                      <m:sSupPr>
                        <m:ctrlPr>
                          <a:rPr sz="1900" i="0" b="0">
                            <a:solidFill>
                              <a:srgbClr val="252525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sz="1900" i="1" b="0">
                            <a:solidFill>
                              <a:srgbClr val="252525"/>
                            </a:solidFill>
                            <a:latin typeface="Cambria Math"/>
                          </a:rPr>
                          <m:t>W</m:t>
                        </m:r>
                      </m:e>
                      <m:sup>
                        <m:r>
                          <m:rPr>
                            <m:sty m:val="i"/>
                          </m:rPr>
                          <a:rPr sz="1900" i="1" b="0">
                            <a:solidFill>
                              <a:srgbClr val="252525"/>
                            </a:solidFill>
                            <a:latin typeface="Cambria Math"/>
                          </a:rPr>
                          <m:t>O</m:t>
                        </m:r>
                      </m:sup>
                    </m:sSup>
                  </m:oMath>
                </a14:m>
                <a:endParaRPr lang="en-US" sz="1900">
                  <a:solidFill>
                    <a:srgbClr val="252525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28" name="concat-label"/>
              <p:cNvSpPr txBox="1"/>
              <p:nvPr/>
            </p:nvSpPr>
            <p:spPr>
              <a:xfrm>
                <a:off x="8940800" y="3314700"/>
                <a:ext cx="24892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ctr">
                  <a:lnSpc>
                    <a:spcPct val="120000"/>
                  </a:lnSpc>
                </a:pPr>
                <a:r>
                  <a:rPr lang="en-US" sz="1900">
                    <a:solidFill>
                      <a:srgbClr val="252525"/>
                    </a:solidFill>
                    <a:latin typeface="Arial Unicode MS"/>
                    <a:ea typeface="Arial Unicode MS"/>
                  </a:rPr>
                  <a:t>拼接所有头</a:t>
                </a:r>
                <a:endParaRPr lang="en-US" sz="1900">
                  <a:solidFill>
                    <a:srgbClr val="252525"/>
                  </a:solidFill>
                  <a:latin typeface="Arial Unicode MS"/>
                  <a:ea typeface="Arial Unicode MS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en-US" sz="1900">
                    <a:solidFill>
                      <a:srgbClr val="252525"/>
                    </a:solidFill>
                    <a:latin typeface="Arial Unicode MS"/>
                    <a:ea typeface="Arial Unicode MS"/>
                  </a:rPr>
                  <a:t>再乘输出投影 </a:t>
                </a:r>
                <a:r>
                  <a:rPr lang="en-US" sz="1900">
                    <a:solidFill>
                      <a:srgbClr val="252525"/>
                    </a:solidFill>
                    <a:latin typeface="Arial Unicode MS"/>
                    <a:ea typeface="Arial Unicode MS"/>
                  </a:rPr>
                  <a:t>\(W^O\)</a:t>
                </a:r>
                <a:endParaRPr lang="en-US" sz="1900">
                  <a:solidFill>
                    <a:srgbClr val="252525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  <p:sp>
        <p:nvSpPr>
          <p:cNvPr id="29" name="ellipsis"/>
          <p:cNvSpPr txBox="1"/>
          <p:nvPr/>
        </p:nvSpPr>
        <p:spPr>
          <a:xfrm>
            <a:off x="5321300" y="50292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6D6D6D"/>
                </a:solidFill>
                <a:latin typeface="Arial Unicode MS"/>
                <a:ea typeface="Arial Unicode MS"/>
              </a:rPr>
              <a:t>… 共 8 个头</a:t>
            </a:r>
            <a:endParaRPr lang="en-US" sz="16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mc:AlternateContent>
        <mc:Choice Requires="a14">
          <p:sp>
            <p:nvSpPr>
              <p:cNvPr id="30" name="mha-formula"/>
              <p:cNvSpPr txBox="1"/>
              <p:nvPr/>
            </p:nvSpPr>
            <p:spPr>
              <a:xfrm>
                <a:off x="584200" y="5613400"/>
                <a:ext cx="11023600" cy="58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MultiHead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300" i="1" b="0">
                        <a:solidFill>
                          <a:srgbClr val="820000"/>
                        </a:solidFill>
                        <a:latin typeface="Cambria Math"/>
                      </a:rPr>
                      <m:t>Q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i"/>
                      </m:rPr>
                      <a:rPr sz="2300" i="1" b="0">
                        <a:solidFill>
                          <a:srgbClr val="82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i"/>
                      </m:rPr>
                      <a:rPr sz="2300" i="1" b="0">
                        <a:solidFill>
                          <a:srgbClr val="82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Concat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sz="23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23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head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23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…</m:t>
                    </m:r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sz="23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23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head</m:t>
                        </m:r>
                      </m:e>
                      <m:sub>
                        <m:r>
                          <m:rPr>
                            <m:sty m:val="i"/>
                          </m:rPr>
                          <a:rPr sz="23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a:rPr sz="23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sSup>
                      <m:sSupPr>
                        <m:ctrlPr>
                          <a:rPr sz="23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sz="23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W</m:t>
                        </m:r>
                      </m:e>
                      <m:sup>
                        <m:r>
                          <m:rPr>
                            <m:sty m:val="i"/>
                          </m:rPr>
                          <a:rPr sz="23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O</m:t>
                        </m:r>
                      </m:sup>
                    </m:sSup>
                  </m:oMath>
                </a14:m>
                <a:endParaRPr lang="en-US" sz="23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30" name="mha-formula"/>
              <p:cNvSpPr txBox="1"/>
              <p:nvPr/>
            </p:nvSpPr>
            <p:spPr>
              <a:xfrm>
                <a:off x="584200" y="5613400"/>
                <a:ext cx="11023600" cy="58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3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\(\operatorname{MultiHead}(Q,K,V)=\operatorname{Concat}(\operatorname{head}_1,\ldots,\operatorname{head}_h)W^O\)</a:t>
                </a:r>
                <a:endParaRPr lang="en-US" sz="23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三种 Attention 改变信息来源与可见范围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§3.2.3  论文 p.5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07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roles-top"/>
          <p:cNvSpPr/>
          <p:nvPr/>
        </p:nvSpPr>
        <p:spPr>
          <a:xfrm>
            <a:off x="584200" y="1600200"/>
            <a:ext cx="7188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roles-0-0"/>
          <p:cNvSpPr txBox="1"/>
          <p:nvPr/>
        </p:nvSpPr>
        <p:spPr>
          <a:xfrm>
            <a:off x="685800" y="1701800"/>
            <a:ext cx="22352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模块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roles-0-1"/>
          <p:cNvSpPr txBox="1"/>
          <p:nvPr/>
        </p:nvSpPr>
        <p:spPr>
          <a:xfrm>
            <a:off x="3124200" y="1701800"/>
            <a:ext cx="2082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Q 来源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roles-0-2"/>
          <p:cNvSpPr txBox="1"/>
          <p:nvPr/>
        </p:nvSpPr>
        <p:spPr>
          <a:xfrm>
            <a:off x="5410200" y="1701800"/>
            <a:ext cx="22606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K / V 来源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roles-header"/>
          <p:cNvSpPr/>
          <p:nvPr/>
        </p:nvSpPr>
        <p:spPr>
          <a:xfrm>
            <a:off x="584200" y="2514600"/>
            <a:ext cx="7188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roles-1-0"/>
          <p:cNvSpPr txBox="1"/>
          <p:nvPr/>
        </p:nvSpPr>
        <p:spPr>
          <a:xfrm>
            <a:off x="685800" y="2616200"/>
            <a:ext cx="22352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编码器自注意力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roles-1-1"/>
          <p:cNvSpPr txBox="1"/>
          <p:nvPr/>
        </p:nvSpPr>
        <p:spPr>
          <a:xfrm>
            <a:off x="3124200" y="2616200"/>
            <a:ext cx="2082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编码器表示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roles-1-2"/>
          <p:cNvSpPr txBox="1"/>
          <p:nvPr/>
        </p:nvSpPr>
        <p:spPr>
          <a:xfrm>
            <a:off x="5410200" y="2616200"/>
            <a:ext cx="22606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同一编码器表示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roles-rule-1"/>
          <p:cNvSpPr/>
          <p:nvPr/>
        </p:nvSpPr>
        <p:spPr>
          <a:xfrm>
            <a:off x="584200" y="3429000"/>
            <a:ext cx="7188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roles-2-0"/>
          <p:cNvSpPr txBox="1"/>
          <p:nvPr/>
        </p:nvSpPr>
        <p:spPr>
          <a:xfrm>
            <a:off x="685800" y="3530600"/>
            <a:ext cx="22352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解码器自注意力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roles-2-1"/>
          <p:cNvSpPr txBox="1"/>
          <p:nvPr/>
        </p:nvSpPr>
        <p:spPr>
          <a:xfrm>
            <a:off x="3124200" y="3530600"/>
            <a:ext cx="2082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解码器表示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roles-2-2"/>
          <p:cNvSpPr txBox="1"/>
          <p:nvPr/>
        </p:nvSpPr>
        <p:spPr>
          <a:xfrm>
            <a:off x="5410200" y="3530600"/>
            <a:ext cx="22606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已知目标前缀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roles-rule-2"/>
          <p:cNvSpPr/>
          <p:nvPr/>
        </p:nvSpPr>
        <p:spPr>
          <a:xfrm>
            <a:off x="584200" y="4343400"/>
            <a:ext cx="7188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roles-3-0"/>
          <p:cNvSpPr txBox="1"/>
          <p:nvPr/>
        </p:nvSpPr>
        <p:spPr>
          <a:xfrm>
            <a:off x="685800" y="4445000"/>
            <a:ext cx="22352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交叉注意力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roles-3-1"/>
          <p:cNvSpPr txBox="1"/>
          <p:nvPr/>
        </p:nvSpPr>
        <p:spPr>
          <a:xfrm>
            <a:off x="3124200" y="4445000"/>
            <a:ext cx="20828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解码器表示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roles-3-2"/>
          <p:cNvSpPr txBox="1"/>
          <p:nvPr/>
        </p:nvSpPr>
        <p:spPr>
          <a:xfrm>
            <a:off x="5410200" y="4445000"/>
            <a:ext cx="2260600" cy="800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编码器最终输出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roles-bottom"/>
          <p:cNvSpPr/>
          <p:nvPr/>
        </p:nvSpPr>
        <p:spPr>
          <a:xfrm>
            <a:off x="584200" y="5257800"/>
            <a:ext cx="7188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mask-title"/>
          <p:cNvSpPr txBox="1"/>
          <p:nvPr/>
        </p:nvSpPr>
        <p:spPr>
          <a:xfrm>
            <a:off x="8343900" y="1536700"/>
            <a:ext cx="32639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820000"/>
                </a:solidFill>
                <a:latin typeface="Arial Unicode MS"/>
                <a:ea typeface="Arial Unicode MS"/>
              </a:rPr>
              <a:t>解码器自注意力的可见范围</a:t>
            </a:r>
            <a:endParaRPr lang="en-US" sz="17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5" name="mask-0-0"/>
          <p:cNvSpPr/>
          <p:nvPr/>
        </p:nvSpPr>
        <p:spPr>
          <a:xfrm>
            <a:off x="8597900" y="22606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26" name="mask-label-0-0"/>
          <p:cNvSpPr txBox="1"/>
          <p:nvPr/>
        </p:nvSpPr>
        <p:spPr>
          <a:xfrm>
            <a:off x="8597900" y="23495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mask-0-1"/>
          <p:cNvSpPr/>
          <p:nvPr/>
        </p:nvSpPr>
        <p:spPr>
          <a:xfrm>
            <a:off x="9131300" y="2260600"/>
            <a:ext cx="482600" cy="482600"/>
          </a:xfrm>
          <a:prstGeom prst="rect">
            <a:avLst/>
          </a:prstGeom>
          <a:solidFill>
            <a:srgbClr val="F3F3F3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28" name="mask-label-0-1"/>
          <p:cNvSpPr txBox="1"/>
          <p:nvPr/>
        </p:nvSpPr>
        <p:spPr>
          <a:xfrm>
            <a:off x="9131300" y="23495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6D6D6D"/>
                </a:solidFill>
                <a:latin typeface="Arial Unicode MS"/>
                <a:ea typeface="Arial Unicode MS"/>
              </a:rPr>
              <a:t>×</a:t>
            </a:r>
            <a:endParaRPr lang="en-US" sz="15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29" name="mask-0-2"/>
          <p:cNvSpPr/>
          <p:nvPr/>
        </p:nvSpPr>
        <p:spPr>
          <a:xfrm>
            <a:off x="9664700" y="2260600"/>
            <a:ext cx="482600" cy="482600"/>
          </a:xfrm>
          <a:prstGeom prst="rect">
            <a:avLst/>
          </a:prstGeom>
          <a:solidFill>
            <a:srgbClr val="F3F3F3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30" name="mask-label-0-2"/>
          <p:cNvSpPr txBox="1"/>
          <p:nvPr/>
        </p:nvSpPr>
        <p:spPr>
          <a:xfrm>
            <a:off x="9664700" y="23495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6D6D6D"/>
                </a:solidFill>
                <a:latin typeface="Arial Unicode MS"/>
                <a:ea typeface="Arial Unicode MS"/>
              </a:rPr>
              <a:t>×</a:t>
            </a:r>
            <a:endParaRPr lang="en-US" sz="15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1" name="mask-0-3"/>
          <p:cNvSpPr/>
          <p:nvPr/>
        </p:nvSpPr>
        <p:spPr>
          <a:xfrm>
            <a:off x="10198100" y="2260600"/>
            <a:ext cx="482600" cy="482600"/>
          </a:xfrm>
          <a:prstGeom prst="rect">
            <a:avLst/>
          </a:prstGeom>
          <a:solidFill>
            <a:srgbClr val="F3F3F3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32" name="mask-label-0-3"/>
          <p:cNvSpPr txBox="1"/>
          <p:nvPr/>
        </p:nvSpPr>
        <p:spPr>
          <a:xfrm>
            <a:off x="10198100" y="23495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6D6D6D"/>
                </a:solidFill>
                <a:latin typeface="Arial Unicode MS"/>
                <a:ea typeface="Arial Unicode MS"/>
              </a:rPr>
              <a:t>×</a:t>
            </a:r>
            <a:endParaRPr lang="en-US" sz="15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3" name="mask-1-0"/>
          <p:cNvSpPr/>
          <p:nvPr/>
        </p:nvSpPr>
        <p:spPr>
          <a:xfrm>
            <a:off x="8597900" y="27940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34" name="mask-label-1-0"/>
          <p:cNvSpPr txBox="1"/>
          <p:nvPr/>
        </p:nvSpPr>
        <p:spPr>
          <a:xfrm>
            <a:off x="8597900" y="28829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5" name="mask-1-1"/>
          <p:cNvSpPr/>
          <p:nvPr/>
        </p:nvSpPr>
        <p:spPr>
          <a:xfrm>
            <a:off x="9131300" y="27940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36" name="mask-label-1-1"/>
          <p:cNvSpPr txBox="1"/>
          <p:nvPr/>
        </p:nvSpPr>
        <p:spPr>
          <a:xfrm>
            <a:off x="9131300" y="28829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7" name="mask-1-2"/>
          <p:cNvSpPr/>
          <p:nvPr/>
        </p:nvSpPr>
        <p:spPr>
          <a:xfrm>
            <a:off x="9664700" y="2794000"/>
            <a:ext cx="482600" cy="482600"/>
          </a:xfrm>
          <a:prstGeom prst="rect">
            <a:avLst/>
          </a:prstGeom>
          <a:solidFill>
            <a:srgbClr val="F3F3F3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38" name="mask-label-1-2"/>
          <p:cNvSpPr txBox="1"/>
          <p:nvPr/>
        </p:nvSpPr>
        <p:spPr>
          <a:xfrm>
            <a:off x="9664700" y="28829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6D6D6D"/>
                </a:solidFill>
                <a:latin typeface="Arial Unicode MS"/>
                <a:ea typeface="Arial Unicode MS"/>
              </a:rPr>
              <a:t>×</a:t>
            </a:r>
            <a:endParaRPr lang="en-US" sz="15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9" name="mask-1-3"/>
          <p:cNvSpPr/>
          <p:nvPr/>
        </p:nvSpPr>
        <p:spPr>
          <a:xfrm>
            <a:off x="10198100" y="2794000"/>
            <a:ext cx="482600" cy="482600"/>
          </a:xfrm>
          <a:prstGeom prst="rect">
            <a:avLst/>
          </a:prstGeom>
          <a:solidFill>
            <a:srgbClr val="F3F3F3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40" name="mask-label-1-3"/>
          <p:cNvSpPr txBox="1"/>
          <p:nvPr/>
        </p:nvSpPr>
        <p:spPr>
          <a:xfrm>
            <a:off x="10198100" y="28829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6D6D6D"/>
                </a:solidFill>
                <a:latin typeface="Arial Unicode MS"/>
                <a:ea typeface="Arial Unicode MS"/>
              </a:rPr>
              <a:t>×</a:t>
            </a:r>
            <a:endParaRPr lang="en-US" sz="15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41" name="mask-2-0"/>
          <p:cNvSpPr/>
          <p:nvPr/>
        </p:nvSpPr>
        <p:spPr>
          <a:xfrm>
            <a:off x="8597900" y="33274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42" name="mask-label-2-0"/>
          <p:cNvSpPr txBox="1"/>
          <p:nvPr/>
        </p:nvSpPr>
        <p:spPr>
          <a:xfrm>
            <a:off x="8597900" y="34163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3" name="mask-2-1"/>
          <p:cNvSpPr/>
          <p:nvPr/>
        </p:nvSpPr>
        <p:spPr>
          <a:xfrm>
            <a:off x="9131300" y="33274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44" name="mask-label-2-1"/>
          <p:cNvSpPr txBox="1"/>
          <p:nvPr/>
        </p:nvSpPr>
        <p:spPr>
          <a:xfrm>
            <a:off x="9131300" y="34163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5" name="mask-2-2"/>
          <p:cNvSpPr/>
          <p:nvPr/>
        </p:nvSpPr>
        <p:spPr>
          <a:xfrm>
            <a:off x="9664700" y="33274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46" name="mask-label-2-2"/>
          <p:cNvSpPr txBox="1"/>
          <p:nvPr/>
        </p:nvSpPr>
        <p:spPr>
          <a:xfrm>
            <a:off x="9664700" y="34163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7" name="mask-2-3"/>
          <p:cNvSpPr/>
          <p:nvPr/>
        </p:nvSpPr>
        <p:spPr>
          <a:xfrm>
            <a:off x="10198100" y="3327400"/>
            <a:ext cx="482600" cy="482600"/>
          </a:xfrm>
          <a:prstGeom prst="rect">
            <a:avLst/>
          </a:prstGeom>
          <a:solidFill>
            <a:srgbClr val="F3F3F3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48" name="mask-label-2-3"/>
          <p:cNvSpPr txBox="1"/>
          <p:nvPr/>
        </p:nvSpPr>
        <p:spPr>
          <a:xfrm>
            <a:off x="10198100" y="34163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6D6D6D"/>
                </a:solidFill>
                <a:latin typeface="Arial Unicode MS"/>
                <a:ea typeface="Arial Unicode MS"/>
              </a:rPr>
              <a:t>×</a:t>
            </a:r>
            <a:endParaRPr lang="en-US" sz="15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49" name="mask-3-0"/>
          <p:cNvSpPr/>
          <p:nvPr/>
        </p:nvSpPr>
        <p:spPr>
          <a:xfrm>
            <a:off x="8597900" y="38608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50" name="mask-label-3-0"/>
          <p:cNvSpPr txBox="1"/>
          <p:nvPr/>
        </p:nvSpPr>
        <p:spPr>
          <a:xfrm>
            <a:off x="8597900" y="39497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51" name="mask-3-1"/>
          <p:cNvSpPr/>
          <p:nvPr/>
        </p:nvSpPr>
        <p:spPr>
          <a:xfrm>
            <a:off x="9131300" y="38608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52" name="mask-label-3-1"/>
          <p:cNvSpPr txBox="1"/>
          <p:nvPr/>
        </p:nvSpPr>
        <p:spPr>
          <a:xfrm>
            <a:off x="9131300" y="39497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53" name="mask-3-2"/>
          <p:cNvSpPr/>
          <p:nvPr/>
        </p:nvSpPr>
        <p:spPr>
          <a:xfrm>
            <a:off x="9664700" y="38608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54" name="mask-label-3-2"/>
          <p:cNvSpPr txBox="1"/>
          <p:nvPr/>
        </p:nvSpPr>
        <p:spPr>
          <a:xfrm>
            <a:off x="9664700" y="39497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55" name="mask-3-3"/>
          <p:cNvSpPr/>
          <p:nvPr/>
        </p:nvSpPr>
        <p:spPr>
          <a:xfrm>
            <a:off x="10198100" y="3860800"/>
            <a:ext cx="482600" cy="482600"/>
          </a:xfrm>
          <a:prstGeom prst="rect">
            <a:avLst/>
          </a:prstGeom>
          <a:solidFill>
            <a:srgbClr val="F4E8E6"/>
          </a:solidFill>
          <a:ln w="8890">
            <a:solidFill>
              <a:srgbClr val="D7D7D7"/>
            </a:solidFill>
            <a:prstDash val="solid"/>
          </a:ln>
        </p:spPr>
      </p:sp>
      <p:sp>
        <p:nvSpPr>
          <p:cNvPr id="56" name="mask-label-3-3"/>
          <p:cNvSpPr txBox="1"/>
          <p:nvPr/>
        </p:nvSpPr>
        <p:spPr>
          <a:xfrm>
            <a:off x="10198100" y="3949700"/>
            <a:ext cx="4826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820000"/>
                </a:solidFill>
                <a:latin typeface="Arial Unicode MS"/>
                <a:ea typeface="Arial Unicode MS"/>
              </a:rPr>
              <a:t>可</a:t>
            </a:r>
            <a:endParaRPr lang="en-US" sz="1500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57" name="mask-bottom"/>
          <p:cNvSpPr txBox="1"/>
          <p:nvPr/>
        </p:nvSpPr>
        <p:spPr>
          <a:xfrm>
            <a:off x="8343900" y="4699000"/>
            <a:ext cx="32639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每行是一个查询位置。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右上角的未来位置不能读取。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58" name="role-takeaway"/>
          <p:cNvSpPr txBox="1"/>
          <p:nvPr/>
        </p:nvSpPr>
        <p:spPr>
          <a:xfrm>
            <a:off x="584200" y="5626100"/>
            <a:ext cx="7239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rgbClr val="820000"/>
                </a:solidFill>
                <a:latin typeface="Arial Unicode MS"/>
                <a:ea typeface="Arial Unicode MS"/>
              </a:rPr>
              <a:t>来源定义任务，Mask 定义信息边界。</a:t>
            </a:r>
            <a:endParaRPr lang="en-US" sz="21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因果 Mask 支持并行训练，生成仍按词推进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§3、§3.1、§3.2.3  论文 p.2,3,5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08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train-title"/>
          <p:cNvSpPr txBox="1"/>
          <p:nvPr/>
        </p:nvSpPr>
        <p:spPr>
          <a:xfrm>
            <a:off x="584200" y="1536700"/>
            <a:ext cx="6019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训练：一次送入右移的真实目标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8" name="input-lab"/>
          <p:cNvSpPr txBox="1"/>
          <p:nvPr/>
        </p:nvSpPr>
        <p:spPr>
          <a:xfrm>
            <a:off x="584200" y="2362200"/>
            <a:ext cx="1117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6D6D6D"/>
                </a:solidFill>
                <a:latin typeface="Arial Unicode MS"/>
                <a:ea typeface="Arial Unicode MS"/>
              </a:rPr>
              <a:t>输入</a:t>
            </a:r>
            <a:endParaRPr lang="en-US" sz="17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9" name="target-lab"/>
          <p:cNvSpPr txBox="1"/>
          <p:nvPr/>
        </p:nvSpPr>
        <p:spPr>
          <a:xfrm>
            <a:off x="584200" y="3594100"/>
            <a:ext cx="1117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6D6D6D"/>
                </a:solidFill>
                <a:latin typeface="Arial Unicode MS"/>
                <a:ea typeface="Arial Unicode MS"/>
              </a:rPr>
              <a:t>预测</a:t>
            </a:r>
            <a:endParaRPr lang="en-US" sz="17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input-0-box"/>
          <p:cNvSpPr/>
          <p:nvPr/>
        </p:nvSpPr>
        <p:spPr>
          <a:xfrm>
            <a:off x="1625600" y="2273300"/>
            <a:ext cx="1092200" cy="5588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1" name="input-0-label"/>
          <p:cNvSpPr txBox="1"/>
          <p:nvPr/>
        </p:nvSpPr>
        <p:spPr>
          <a:xfrm>
            <a:off x="1727200" y="23749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&lt;BOS&gt;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target-0-box"/>
          <p:cNvSpPr/>
          <p:nvPr/>
        </p:nvSpPr>
        <p:spPr>
          <a:xfrm>
            <a:off x="1625600" y="3454400"/>
            <a:ext cx="10922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3" name="target-0-label"/>
          <p:cNvSpPr txBox="1"/>
          <p:nvPr/>
        </p:nvSpPr>
        <p:spPr>
          <a:xfrm>
            <a:off x="1727200" y="35560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我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training-0"/>
          <p:cNvSpPr/>
          <p:nvPr/>
        </p:nvSpPr>
        <p:spPr>
          <a:xfrm>
            <a:off x="2171700" y="2882900"/>
            <a:ext cx="2540" cy="5207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input-1-box"/>
          <p:cNvSpPr/>
          <p:nvPr/>
        </p:nvSpPr>
        <p:spPr>
          <a:xfrm>
            <a:off x="2794000" y="2273300"/>
            <a:ext cx="1092200" cy="5588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6" name="input-1-label"/>
          <p:cNvSpPr txBox="1"/>
          <p:nvPr/>
        </p:nvSpPr>
        <p:spPr>
          <a:xfrm>
            <a:off x="2895600" y="23749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我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target-1-box"/>
          <p:cNvSpPr/>
          <p:nvPr/>
        </p:nvSpPr>
        <p:spPr>
          <a:xfrm>
            <a:off x="2794000" y="3454400"/>
            <a:ext cx="10922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8" name="target-1-label"/>
          <p:cNvSpPr txBox="1"/>
          <p:nvPr/>
        </p:nvSpPr>
        <p:spPr>
          <a:xfrm>
            <a:off x="2895600" y="35560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爱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training-1"/>
          <p:cNvSpPr/>
          <p:nvPr/>
        </p:nvSpPr>
        <p:spPr>
          <a:xfrm>
            <a:off x="3340100" y="2882900"/>
            <a:ext cx="2540" cy="5207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" name="input-2-box"/>
          <p:cNvSpPr/>
          <p:nvPr/>
        </p:nvSpPr>
        <p:spPr>
          <a:xfrm>
            <a:off x="3962400" y="2273300"/>
            <a:ext cx="1092200" cy="5588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1" name="input-2-label"/>
          <p:cNvSpPr txBox="1"/>
          <p:nvPr/>
        </p:nvSpPr>
        <p:spPr>
          <a:xfrm>
            <a:off x="4064000" y="23749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爱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target-2-box"/>
          <p:cNvSpPr/>
          <p:nvPr/>
        </p:nvSpPr>
        <p:spPr>
          <a:xfrm>
            <a:off x="3962400" y="3454400"/>
            <a:ext cx="10922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3" name="target-2-label"/>
          <p:cNvSpPr txBox="1"/>
          <p:nvPr/>
        </p:nvSpPr>
        <p:spPr>
          <a:xfrm>
            <a:off x="4064000" y="35560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猫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training-2"/>
          <p:cNvSpPr/>
          <p:nvPr/>
        </p:nvSpPr>
        <p:spPr>
          <a:xfrm>
            <a:off x="4508500" y="2882900"/>
            <a:ext cx="2540" cy="5207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" name="input-3-box"/>
          <p:cNvSpPr/>
          <p:nvPr/>
        </p:nvSpPr>
        <p:spPr>
          <a:xfrm>
            <a:off x="5130800" y="2273300"/>
            <a:ext cx="1092200" cy="5588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6" name="input-3-label"/>
          <p:cNvSpPr txBox="1"/>
          <p:nvPr/>
        </p:nvSpPr>
        <p:spPr>
          <a:xfrm>
            <a:off x="5232400" y="23749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猫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target-3-box"/>
          <p:cNvSpPr/>
          <p:nvPr/>
        </p:nvSpPr>
        <p:spPr>
          <a:xfrm>
            <a:off x="5130800" y="3454400"/>
            <a:ext cx="1092200" cy="5588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8" name="target-3-label"/>
          <p:cNvSpPr txBox="1"/>
          <p:nvPr/>
        </p:nvSpPr>
        <p:spPr>
          <a:xfrm>
            <a:off x="5232400" y="3556000"/>
            <a:ext cx="88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&lt;EOS&gt;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9" name="training-3"/>
          <p:cNvSpPr/>
          <p:nvPr/>
        </p:nvSpPr>
        <p:spPr>
          <a:xfrm>
            <a:off x="5676900" y="2882900"/>
            <a:ext cx="2540" cy="5207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" name="training-note"/>
          <p:cNvSpPr txBox="1"/>
          <p:nvPr/>
        </p:nvSpPr>
        <p:spPr>
          <a:xfrm>
            <a:off x="584200" y="4610100"/>
            <a:ext cx="5930900" cy="1193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Mask 保证每个位置只读已知前缀。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所有位置可在同一次前向计算中训练。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1" name="section-line"/>
          <p:cNvSpPr/>
          <p:nvPr/>
        </p:nvSpPr>
        <p:spPr>
          <a:xfrm>
            <a:off x="7023100" y="1511300"/>
            <a:ext cx="2540" cy="44450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270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" name="gen-title"/>
          <p:cNvSpPr txBox="1"/>
          <p:nvPr/>
        </p:nvSpPr>
        <p:spPr>
          <a:xfrm>
            <a:off x="7645400" y="1536700"/>
            <a:ext cx="3962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推理：逐词生成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3" name="prefix-0"/>
          <p:cNvSpPr txBox="1"/>
          <p:nvPr/>
        </p:nvSpPr>
        <p:spPr>
          <a:xfrm>
            <a:off x="7645400" y="2298700"/>
            <a:ext cx="27051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&lt;BOS&gt;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4" name="gen-arrow-0"/>
          <p:cNvSpPr/>
          <p:nvPr/>
        </p:nvSpPr>
        <p:spPr>
          <a:xfrm>
            <a:off x="10325100" y="2501900"/>
            <a:ext cx="406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" name="gen-word-0"/>
          <p:cNvSpPr txBox="1"/>
          <p:nvPr/>
        </p:nvSpPr>
        <p:spPr>
          <a:xfrm>
            <a:off x="10896600" y="2286000"/>
            <a:ext cx="6985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我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6" name="prefix-1"/>
          <p:cNvSpPr txBox="1"/>
          <p:nvPr/>
        </p:nvSpPr>
        <p:spPr>
          <a:xfrm>
            <a:off x="7645400" y="3263900"/>
            <a:ext cx="27051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&lt;BOS&gt; 我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7" name="gen-arrow-1"/>
          <p:cNvSpPr/>
          <p:nvPr/>
        </p:nvSpPr>
        <p:spPr>
          <a:xfrm>
            <a:off x="10325100" y="3467100"/>
            <a:ext cx="406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" name="gen-word-1"/>
          <p:cNvSpPr txBox="1"/>
          <p:nvPr/>
        </p:nvSpPr>
        <p:spPr>
          <a:xfrm>
            <a:off x="10896600" y="3251200"/>
            <a:ext cx="6985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爱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9" name="prefix-2"/>
          <p:cNvSpPr txBox="1"/>
          <p:nvPr/>
        </p:nvSpPr>
        <p:spPr>
          <a:xfrm>
            <a:off x="7645400" y="4229100"/>
            <a:ext cx="27051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&lt;BOS&gt; 我 爱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40" name="gen-arrow-2"/>
          <p:cNvSpPr/>
          <p:nvPr/>
        </p:nvSpPr>
        <p:spPr>
          <a:xfrm>
            <a:off x="10325100" y="4432300"/>
            <a:ext cx="406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" name="gen-word-2"/>
          <p:cNvSpPr txBox="1"/>
          <p:nvPr/>
        </p:nvSpPr>
        <p:spPr>
          <a:xfrm>
            <a:off x="10896600" y="4216400"/>
            <a:ext cx="6985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猫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2" name="gen-note"/>
          <p:cNvSpPr txBox="1"/>
          <p:nvPr/>
        </p:nvSpPr>
        <p:spPr>
          <a:xfrm>
            <a:off x="7645400" y="5321300"/>
            <a:ext cx="3962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并行训练不等于并行生成。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位置编码为无循环模型补上顺序信息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§3.5、表3(E)  论文 p.6,9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09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mc:AlternateContent>
        <mc:Choice Requires="a14">
          <p:sp>
            <p:nvSpPr>
              <p:cNvPr id="7" name="pe-formulas"/>
              <p:cNvSpPr txBox="1"/>
              <p:nvPr/>
            </p:nvSpPr>
            <p:spPr>
              <a:xfrm>
                <a:off x="584200" y="1600200"/>
                <a:ext cx="7302500" cy="21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2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i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sin</m:t>
                    </m:r>
                    <m:d>
                      <m:dPr>
                        <m:begChr m:val="("/>
                        <m:endChr m:val=")"/>
                        <m:grow m:val="1"/>
                        <m:ctrl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i"/>
                              </m:rPr>
                              <a:rPr sz="2400" i="1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p</m:t>
                            </m:r>
                            <m:r>
                              <m:rPr>
                                <m:sty m:val="i"/>
                              </m:rPr>
                              <a:rPr sz="2400" i="1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o</m:t>
                            </m:r>
                            <m:r>
                              <m:rPr>
                                <m:sty m:val="i"/>
                              </m:rPr>
                              <a:rPr sz="2400" i="1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0</m:t>
                            </m:r>
                            <m:sSup>
                              <m:sSupPr>
                                <m:ctrlPr>
                                  <a:rPr sz="24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sz="24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sz="24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i"/>
                                  </m:rPr>
                                  <a:rPr sz="2400" i="1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sz="24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sz="2400" i="0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m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o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d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e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24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:endParaRPr lang="en-US" sz="24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2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i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cos</m:t>
                    </m:r>
                    <m:d>
                      <m:dPr>
                        <m:begChr m:val="("/>
                        <m:endChr m:val=")"/>
                        <m:grow m:val="1"/>
                        <m:ctrl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i"/>
                              </m:rPr>
                              <a:rPr sz="2400" i="1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p</m:t>
                            </m:r>
                            <m:r>
                              <m:rPr>
                                <m:sty m:val="i"/>
                              </m:rPr>
                              <a:rPr sz="2400" i="1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o</m:t>
                            </m:r>
                            <m:r>
                              <m:rPr>
                                <m:sty m:val="i"/>
                              </m:rPr>
                              <a:rPr sz="2400" i="1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sz="2400" i="0" b="0">
                                <a:solidFill>
                                  <a:srgbClr val="820000"/>
                                </a:solidFill>
                                <a:latin typeface="Cambria Math"/>
                              </a:rPr>
                              <m:t>0</m:t>
                            </m:r>
                            <m:sSup>
                              <m:sSupPr>
                                <m:ctrlPr>
                                  <a:rPr sz="24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sz="24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sz="24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i"/>
                                  </m:rPr>
                                  <a:rPr sz="2400" i="1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sz="2400" i="0" b="0">
                                    <a:solidFill>
                                      <a:srgbClr val="820000"/>
                                    </a:solidFill>
                                    <a:latin typeface="Cambria Math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sz="2400" i="0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m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o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d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e</m:t>
                                    </m:r>
                                    <m:r>
                                      <m:rPr>
                                        <m:sty m:val="i"/>
                                      </m:rPr>
                                      <a:rPr sz="2400" i="1" b="0">
                                        <a:solidFill>
                                          <a:srgbClr val="820000"/>
                                        </a:solidFill>
                                        <a:latin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24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7" name="pe-formulas"/>
              <p:cNvSpPr txBox="1"/>
              <p:nvPr/>
            </p:nvSpPr>
            <p:spPr>
              <a:xfrm>
                <a:off x="584200" y="1600200"/>
                <a:ext cx="7302500" cy="21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4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\(PE(pos,2i)=\sin\left(\frac{pos}{10000^{2i/d_{model}}}\right)\)</a:t>
                </a:r>
                <a:endParaRPr lang="en-US" sz="24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:endParaRPr lang="en-US" sz="24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en-US" sz="24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\(PE(pos,2i+1)=\cos\left(\frac{pos}{10000^{2i/d_{model}}}\right)\)</a:t>
                </a:r>
                <a:endParaRPr lang="en-US" sz="24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  <p:sp>
        <p:nvSpPr>
          <p:cNvPr id="8" name="pe-notes"/>
          <p:cNvSpPr txBox="1"/>
          <p:nvPr/>
        </p:nvSpPr>
        <p:spPr>
          <a:xfrm>
            <a:off x="584200" y="4254500"/>
            <a:ext cx="7302500" cy="173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pos 是词的位置，i 是维度编号。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位置编码与词嵌入维度相同，可直接相加。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长序列外推是设计动机，仍需额外验证。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pe-label"/>
          <p:cNvSpPr txBox="1"/>
          <p:nvPr/>
        </p:nvSpPr>
        <p:spPr>
          <a:xfrm>
            <a:off x="8356600" y="1574800"/>
            <a:ext cx="3251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rgbClr val="252525"/>
                </a:solidFill>
                <a:latin typeface="Arial Unicode MS"/>
                <a:ea typeface="Arial Unicode MS"/>
              </a:rPr>
              <a:t>同一个词，处于不同位置</a:t>
            </a:r>
            <a:endParaRPr lang="en-US" sz="21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pe-word-0-box"/>
          <p:cNvSpPr/>
          <p:nvPr/>
        </p:nvSpPr>
        <p:spPr>
          <a:xfrm>
            <a:off x="8496300" y="2578100"/>
            <a:ext cx="2832100" cy="5461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1" name="pe-word-0-label"/>
          <p:cNvSpPr txBox="1"/>
          <p:nvPr/>
        </p:nvSpPr>
        <p:spPr>
          <a:xfrm>
            <a:off x="8597900" y="267970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词嵌入：猫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pe-plus-0"/>
          <p:cNvSpPr txBox="1"/>
          <p:nvPr/>
        </p:nvSpPr>
        <p:spPr>
          <a:xfrm>
            <a:off x="8890000" y="3175000"/>
            <a:ext cx="4445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E69138"/>
                </a:solidFill>
                <a:latin typeface="Arial Unicode MS"/>
                <a:ea typeface="Arial Unicode MS"/>
              </a:rPr>
              <a:t>+</a:t>
            </a:r>
            <a:endParaRPr lang="en-US" sz="2400" b="1">
              <a:solidFill>
                <a:srgbClr val="E69138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pe-pos-0"/>
          <p:cNvSpPr txBox="1"/>
          <p:nvPr/>
        </p:nvSpPr>
        <p:spPr>
          <a:xfrm>
            <a:off x="9385300" y="3187700"/>
            <a:ext cx="2159000" cy="520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位置 1 的向量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pe-arrow-0"/>
          <p:cNvSpPr/>
          <p:nvPr/>
        </p:nvSpPr>
        <p:spPr>
          <a:xfrm>
            <a:off x="9906000" y="3695700"/>
            <a:ext cx="2540" cy="2413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pe-sum-0"/>
          <p:cNvSpPr txBox="1"/>
          <p:nvPr/>
        </p:nvSpPr>
        <p:spPr>
          <a:xfrm>
            <a:off x="8483600" y="3962400"/>
            <a:ext cx="2997200" cy="520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带位置的输入表示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pe-word-1-box"/>
          <p:cNvSpPr/>
          <p:nvPr/>
        </p:nvSpPr>
        <p:spPr>
          <a:xfrm>
            <a:off x="8496300" y="4305300"/>
            <a:ext cx="2832100" cy="5461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7" name="pe-word-1-label"/>
          <p:cNvSpPr txBox="1"/>
          <p:nvPr/>
        </p:nvSpPr>
        <p:spPr>
          <a:xfrm>
            <a:off x="8597900" y="440690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词嵌入：猫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pe-plus-1"/>
          <p:cNvSpPr txBox="1"/>
          <p:nvPr/>
        </p:nvSpPr>
        <p:spPr>
          <a:xfrm>
            <a:off x="8890000" y="4902200"/>
            <a:ext cx="4445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E69138"/>
                </a:solidFill>
                <a:latin typeface="Arial Unicode MS"/>
                <a:ea typeface="Arial Unicode MS"/>
              </a:rPr>
              <a:t>+</a:t>
            </a:r>
            <a:endParaRPr lang="en-US" sz="2400" b="1">
              <a:solidFill>
                <a:srgbClr val="E69138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pe-pos-1"/>
          <p:cNvSpPr txBox="1"/>
          <p:nvPr/>
        </p:nvSpPr>
        <p:spPr>
          <a:xfrm>
            <a:off x="9385300" y="4914900"/>
            <a:ext cx="2159000" cy="520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252525"/>
                </a:solidFill>
                <a:latin typeface="Arial Unicode MS"/>
                <a:ea typeface="Arial Unicode MS"/>
              </a:rPr>
              <a:t>位置 2 的向量</a:t>
            </a:r>
            <a:endParaRPr lang="en-US" sz="17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0" name="pe-arrow-1"/>
          <p:cNvSpPr/>
          <p:nvPr/>
        </p:nvSpPr>
        <p:spPr>
          <a:xfrm>
            <a:off x="9906000" y="5422900"/>
            <a:ext cx="2540" cy="2413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" name="pe-sum-1"/>
          <p:cNvSpPr txBox="1"/>
          <p:nvPr/>
        </p:nvSpPr>
        <p:spPr>
          <a:xfrm>
            <a:off x="8483600" y="5689600"/>
            <a:ext cx="2997200" cy="520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带位置的输入表示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FFN 与残差归一化完成每层的变换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§3.1、§3.3–3.4、式(2)  论文 p.3,5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10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layer-caption"/>
          <p:cNvSpPr txBox="1"/>
          <p:nvPr/>
        </p:nvSpPr>
        <p:spPr>
          <a:xfrm>
            <a:off x="584200" y="1562100"/>
            <a:ext cx="4699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原论文的一层编码器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8" name="layer-0-box"/>
          <p:cNvSpPr/>
          <p:nvPr/>
        </p:nvSpPr>
        <p:spPr>
          <a:xfrm>
            <a:off x="584200" y="2298700"/>
            <a:ext cx="4445000" cy="5461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9" name="layer-0-label"/>
          <p:cNvSpPr txBox="1"/>
          <p:nvPr/>
        </p:nvSpPr>
        <p:spPr>
          <a:xfrm>
            <a:off x="685800" y="2400300"/>
            <a:ext cx="4241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多头自注意力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layer-arrow-0"/>
          <p:cNvSpPr/>
          <p:nvPr/>
        </p:nvSpPr>
        <p:spPr>
          <a:xfrm>
            <a:off x="2806700" y="2895600"/>
            <a:ext cx="2540" cy="1651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" name="layer-1-box"/>
          <p:cNvSpPr/>
          <p:nvPr/>
        </p:nvSpPr>
        <p:spPr>
          <a:xfrm>
            <a:off x="584200" y="3124200"/>
            <a:ext cx="4445000" cy="5461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2" name="layer-1-label"/>
          <p:cNvSpPr txBox="1"/>
          <p:nvPr/>
        </p:nvSpPr>
        <p:spPr>
          <a:xfrm>
            <a:off x="685800" y="3225800"/>
            <a:ext cx="4241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残差相加，再 LayerNorm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layer-arrow-1"/>
          <p:cNvSpPr/>
          <p:nvPr/>
        </p:nvSpPr>
        <p:spPr>
          <a:xfrm>
            <a:off x="2806700" y="3721100"/>
            <a:ext cx="2540" cy="1651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" name="layer-2-box"/>
          <p:cNvSpPr/>
          <p:nvPr/>
        </p:nvSpPr>
        <p:spPr>
          <a:xfrm>
            <a:off x="584200" y="3949700"/>
            <a:ext cx="4445000" cy="546100"/>
          </a:xfrm>
          <a:prstGeom prst="rect">
            <a:avLst/>
          </a:prstGeom>
          <a:solidFill>
            <a:srgbClr val="F4E8E6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5" name="layer-2-label"/>
          <p:cNvSpPr txBox="1"/>
          <p:nvPr/>
        </p:nvSpPr>
        <p:spPr>
          <a:xfrm>
            <a:off x="685800" y="4051300"/>
            <a:ext cx="4241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逐位置 FFN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layer-arrow-2"/>
          <p:cNvSpPr/>
          <p:nvPr/>
        </p:nvSpPr>
        <p:spPr>
          <a:xfrm>
            <a:off x="2806700" y="4546600"/>
            <a:ext cx="2540" cy="1651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1524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" name="layer-3-box"/>
          <p:cNvSpPr/>
          <p:nvPr/>
        </p:nvSpPr>
        <p:spPr>
          <a:xfrm>
            <a:off x="584200" y="4775200"/>
            <a:ext cx="4445000" cy="5461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8" name="layer-3-label"/>
          <p:cNvSpPr txBox="1"/>
          <p:nvPr/>
        </p:nvSpPr>
        <p:spPr>
          <a:xfrm>
            <a:off x="685800" y="4876800"/>
            <a:ext cx="4241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残差相加，再 LayerNorm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mc:AlternateContent>
        <mc:Choice Requires="a14">
          <p:sp>
            <p:nvSpPr>
              <p:cNvPr id="19" name="ffn-equation"/>
              <p:cNvSpPr txBox="1"/>
              <p:nvPr/>
            </p:nvSpPr>
            <p:spPr>
              <a:xfrm>
                <a:off x="5727700" y="1752600"/>
                <a:ext cx="58801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FFN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max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i"/>
                      </m:rPr>
                      <a:rPr sz="2400" i="1" b="0">
                        <a:solidFill>
                          <a:srgbClr val="820000"/>
                        </a:solidFill>
                        <a:latin typeface="Cambria Math"/>
                      </a:rPr>
                      <m:t>x</m:t>
                    </m:r>
                    <m:sSub>
                      <m:sSubPr>
                        <m:ctrl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sz="24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sz="24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sz="24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sz="2400" i="0" b="0">
                        <a:solidFill>
                          <a:srgbClr val="820000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sz="24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sz="24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4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19" name="ffn-equation"/>
              <p:cNvSpPr txBox="1"/>
              <p:nvPr/>
            </p:nvSpPr>
            <p:spPr>
              <a:xfrm>
                <a:off x="5727700" y="1752600"/>
                <a:ext cx="5880100" cy="127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4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\(\operatorname{FFN}(x)=\max(0,xW_1+b_1)W_2+b_2\)</a:t>
                </a:r>
                <a:endParaRPr lang="en-US" sz="24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  <p:sp>
        <p:nvSpPr>
          <p:cNvPr id="20" name="ffn-idea"/>
          <p:cNvSpPr txBox="1"/>
          <p:nvPr/>
        </p:nvSpPr>
        <p:spPr>
          <a:xfrm>
            <a:off x="5727700" y="3276600"/>
            <a:ext cx="58801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252525"/>
                </a:solidFill>
                <a:latin typeface="Arial Unicode MS"/>
                <a:ea typeface="Arial Unicode MS"/>
              </a:rPr>
              <a:t>同一层中，各位置独立使用同一套 FFN 参数。</a:t>
            </a:r>
            <a:endParaRPr lang="en-US" sz="22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ffn-dim-0-box"/>
          <p:cNvSpPr/>
          <p:nvPr/>
        </p:nvSpPr>
        <p:spPr>
          <a:xfrm>
            <a:off x="5727700" y="4546600"/>
            <a:ext cx="1270000" cy="5842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ffn-dim-0-label"/>
          <p:cNvSpPr txBox="1"/>
          <p:nvPr/>
        </p:nvSpPr>
        <p:spPr>
          <a:xfrm>
            <a:off x="5829300" y="46482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512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ffn-dim-link-0"/>
          <p:cNvSpPr/>
          <p:nvPr/>
        </p:nvSpPr>
        <p:spPr>
          <a:xfrm>
            <a:off x="7048500" y="4838700"/>
            <a:ext cx="279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" name="ffn-dim-1-box"/>
          <p:cNvSpPr/>
          <p:nvPr/>
        </p:nvSpPr>
        <p:spPr>
          <a:xfrm>
            <a:off x="7404100" y="4546600"/>
            <a:ext cx="2184400" cy="5842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5" name="ffn-dim-1-label"/>
          <p:cNvSpPr txBox="1"/>
          <p:nvPr/>
        </p:nvSpPr>
        <p:spPr>
          <a:xfrm>
            <a:off x="7505700" y="46482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2048 + ReLU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6" name="ffn-dim-link-1"/>
          <p:cNvSpPr/>
          <p:nvPr/>
        </p:nvSpPr>
        <p:spPr>
          <a:xfrm>
            <a:off x="9639300" y="4838700"/>
            <a:ext cx="609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6510">
            <a:solidFill>
              <a:srgbClr val="82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" name="ffn-dim-2-box"/>
          <p:cNvSpPr/>
          <p:nvPr/>
        </p:nvSpPr>
        <p:spPr>
          <a:xfrm>
            <a:off x="10325100" y="4546600"/>
            <a:ext cx="1270000" cy="584200"/>
          </a:xfrm>
          <a:prstGeom prst="rect">
            <a:avLst/>
          </a:prstGeom>
          <a:solidFill>
            <a:srgbClr val="F3F3F3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8" name="ffn-dim-2-label"/>
          <p:cNvSpPr txBox="1"/>
          <p:nvPr/>
        </p:nvSpPr>
        <p:spPr>
          <a:xfrm>
            <a:off x="10426700" y="46482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512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mc:AlternateContent>
        <mc:Choice Requires="a14">
          <p:sp>
            <p:nvSpPr>
              <p:cNvPr id="29" name="postln-equation"/>
              <p:cNvSpPr txBox="1"/>
              <p:nvPr/>
            </p:nvSpPr>
            <p:spPr>
              <a:xfrm>
                <a:off x="5727700" y="5499100"/>
                <a:ext cx="5880100" cy="58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p"/>
                      </m:rPr>
                      <a:rPr sz="2200" i="0" b="0">
                        <a:solidFill>
                          <a:srgbClr val="6D6D6D"/>
                        </a:solidFill>
                        <a:latin typeface="Cambria Math"/>
                      </a:rPr>
                      <m:t>LayerNorm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6D6D6D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200" i="1" b="0">
                        <a:solidFill>
                          <a:srgbClr val="6D6D6D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6D6D6D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6D6D6D"/>
                        </a:solidFill>
                        <a:latin typeface="Cambria Math"/>
                      </a:rPr>
                      <m:t>Sublayer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6D6D6D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200" i="1" b="0">
                        <a:solidFill>
                          <a:srgbClr val="6D6D6D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6D6D6D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sz="2200" i="0" b="0">
                        <a:solidFill>
                          <a:srgbClr val="6D6D6D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200">
                  <a:solidFill>
                    <a:srgbClr val="6D6D6D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29" name="postln-equation"/>
              <p:cNvSpPr txBox="1"/>
              <p:nvPr/>
            </p:nvSpPr>
            <p:spPr>
              <a:xfrm>
                <a:off x="5727700" y="5499100"/>
                <a:ext cx="5880100" cy="58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200">
                    <a:solidFill>
                      <a:srgbClr val="6D6D6D"/>
                    </a:solidFill>
                    <a:latin typeface="Arial Unicode MS"/>
                    <a:ea typeface="Arial Unicode MS"/>
                  </a:rPr>
                  <a:t>\(\operatorname{LayerNorm}(x+\operatorname{Sublayer}(x))\)</a:t>
                </a:r>
                <a:endParaRPr lang="en-US" sz="2200">
                  <a:solidFill>
                    <a:srgbClr val="6D6D6D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模型规模与训练预算同时发生变化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§5.1–5.2、表3  论文 p.7,9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11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data-title"/>
          <p:cNvSpPr txBox="1"/>
          <p:nvPr/>
        </p:nvSpPr>
        <p:spPr>
          <a:xfrm>
            <a:off x="584200" y="1549400"/>
            <a:ext cx="387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翻译数据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8" name="de-data"/>
          <p:cNvSpPr txBox="1"/>
          <p:nvPr/>
        </p:nvSpPr>
        <p:spPr>
          <a:xfrm>
            <a:off x="584200" y="2324100"/>
            <a:ext cx="3873500" cy="1244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WMT14 英德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约 450 万句对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共享 BPE 词表约 3.7 万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fr-data"/>
          <p:cNvSpPr txBox="1"/>
          <p:nvPr/>
        </p:nvSpPr>
        <p:spPr>
          <a:xfrm>
            <a:off x="584200" y="4089400"/>
            <a:ext cx="3873500" cy="1244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WMT14 英法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约 3600 万句对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WordPiece 词表 3.2 万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configs-top"/>
          <p:cNvSpPr/>
          <p:nvPr/>
        </p:nvSpPr>
        <p:spPr>
          <a:xfrm>
            <a:off x="4927600" y="1549400"/>
            <a:ext cx="6680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configs-0-0"/>
          <p:cNvSpPr txBox="1"/>
          <p:nvPr/>
        </p:nvSpPr>
        <p:spPr>
          <a:xfrm>
            <a:off x="5029200" y="16510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配置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configs-0-1"/>
          <p:cNvSpPr txBox="1"/>
          <p:nvPr/>
        </p:nvSpPr>
        <p:spPr>
          <a:xfrm>
            <a:off x="7670800" y="16510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Base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configs-0-2"/>
          <p:cNvSpPr txBox="1"/>
          <p:nvPr/>
        </p:nvSpPr>
        <p:spPr>
          <a:xfrm>
            <a:off x="9575800" y="16510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Big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configs-header"/>
          <p:cNvSpPr/>
          <p:nvPr/>
        </p:nvSpPr>
        <p:spPr>
          <a:xfrm>
            <a:off x="4927600" y="2095500"/>
            <a:ext cx="6680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configs-1-0"/>
          <p:cNvSpPr txBox="1"/>
          <p:nvPr/>
        </p:nvSpPr>
        <p:spPr>
          <a:xfrm>
            <a:off x="5029200" y="21971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层数 N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configs-1-1"/>
          <p:cNvSpPr txBox="1"/>
          <p:nvPr/>
        </p:nvSpPr>
        <p:spPr>
          <a:xfrm>
            <a:off x="7670800" y="21971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6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configs-1-2"/>
          <p:cNvSpPr txBox="1"/>
          <p:nvPr/>
        </p:nvSpPr>
        <p:spPr>
          <a:xfrm>
            <a:off x="9575800" y="21971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6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configs-rule-1"/>
          <p:cNvSpPr/>
          <p:nvPr/>
        </p:nvSpPr>
        <p:spPr>
          <a:xfrm>
            <a:off x="4927600" y="2641600"/>
            <a:ext cx="6680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configs-2-0"/>
          <p:cNvSpPr txBox="1"/>
          <p:nvPr/>
        </p:nvSpPr>
        <p:spPr>
          <a:xfrm>
            <a:off x="5029200" y="27432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模型 / FFN 维度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0" name="configs-2-1"/>
          <p:cNvSpPr txBox="1"/>
          <p:nvPr/>
        </p:nvSpPr>
        <p:spPr>
          <a:xfrm>
            <a:off x="7670800" y="27432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512 / 2048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configs-2-2"/>
          <p:cNvSpPr txBox="1"/>
          <p:nvPr/>
        </p:nvSpPr>
        <p:spPr>
          <a:xfrm>
            <a:off x="9575800" y="27432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1024 / 4096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configs-rule-2"/>
          <p:cNvSpPr/>
          <p:nvPr/>
        </p:nvSpPr>
        <p:spPr>
          <a:xfrm>
            <a:off x="4927600" y="3187700"/>
            <a:ext cx="6680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configs-3-0"/>
          <p:cNvSpPr txBox="1"/>
          <p:nvPr/>
        </p:nvSpPr>
        <p:spPr>
          <a:xfrm>
            <a:off x="5029200" y="32893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头数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configs-3-1"/>
          <p:cNvSpPr txBox="1"/>
          <p:nvPr/>
        </p:nvSpPr>
        <p:spPr>
          <a:xfrm>
            <a:off x="7670800" y="32893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8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5" name="configs-3-2"/>
          <p:cNvSpPr txBox="1"/>
          <p:nvPr/>
        </p:nvSpPr>
        <p:spPr>
          <a:xfrm>
            <a:off x="9575800" y="32893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16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6" name="configs-rule-3"/>
          <p:cNvSpPr/>
          <p:nvPr/>
        </p:nvSpPr>
        <p:spPr>
          <a:xfrm>
            <a:off x="4927600" y="3733800"/>
            <a:ext cx="6680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configs-4-0"/>
          <p:cNvSpPr txBox="1"/>
          <p:nvPr/>
        </p:nvSpPr>
        <p:spPr>
          <a:xfrm>
            <a:off x="5029200" y="38354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参数量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8" name="configs-4-1"/>
          <p:cNvSpPr txBox="1"/>
          <p:nvPr/>
        </p:nvSpPr>
        <p:spPr>
          <a:xfrm>
            <a:off x="7670800" y="38354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65 M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9" name="configs-4-2"/>
          <p:cNvSpPr txBox="1"/>
          <p:nvPr/>
        </p:nvSpPr>
        <p:spPr>
          <a:xfrm>
            <a:off x="9575800" y="38354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213 M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0" name="configs-rule-4"/>
          <p:cNvSpPr/>
          <p:nvPr/>
        </p:nvSpPr>
        <p:spPr>
          <a:xfrm>
            <a:off x="4927600" y="4279900"/>
            <a:ext cx="6680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" name="configs-5-0"/>
          <p:cNvSpPr txBox="1"/>
          <p:nvPr/>
        </p:nvSpPr>
        <p:spPr>
          <a:xfrm>
            <a:off x="5029200" y="43815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训练步数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2" name="configs-5-1"/>
          <p:cNvSpPr txBox="1"/>
          <p:nvPr/>
        </p:nvSpPr>
        <p:spPr>
          <a:xfrm>
            <a:off x="7670800" y="43815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100 K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3" name="configs-5-2"/>
          <p:cNvSpPr txBox="1"/>
          <p:nvPr/>
        </p:nvSpPr>
        <p:spPr>
          <a:xfrm>
            <a:off x="9575800" y="43815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300 K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4" name="configs-rule-5"/>
          <p:cNvSpPr/>
          <p:nvPr/>
        </p:nvSpPr>
        <p:spPr>
          <a:xfrm>
            <a:off x="4927600" y="4826000"/>
            <a:ext cx="6680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" name="configs-hi-6"/>
          <p:cNvSpPr/>
          <p:nvPr/>
        </p:nvSpPr>
        <p:spPr>
          <a:xfrm>
            <a:off x="4927600" y="4826000"/>
            <a:ext cx="6680200" cy="546100"/>
          </a:xfrm>
          <a:prstGeom prst="rect">
            <a:avLst/>
          </a:prstGeom>
          <a:solidFill>
            <a:srgbClr val="F4E8E6"/>
          </a:solidFill>
          <a:ln>
            <a:noFill/>
          </a:ln>
        </p:spPr>
      </p:sp>
      <p:sp>
        <p:nvSpPr>
          <p:cNvPr id="36" name="configs-6-0"/>
          <p:cNvSpPr txBox="1"/>
          <p:nvPr/>
        </p:nvSpPr>
        <p:spPr>
          <a:xfrm>
            <a:off x="5029200" y="49276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训练时间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7" name="configs-6-1"/>
          <p:cNvSpPr txBox="1"/>
          <p:nvPr/>
        </p:nvSpPr>
        <p:spPr>
          <a:xfrm>
            <a:off x="7670800" y="4927600"/>
            <a:ext cx="170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12 小时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8" name="configs-6-2"/>
          <p:cNvSpPr txBox="1"/>
          <p:nvPr/>
        </p:nvSpPr>
        <p:spPr>
          <a:xfrm>
            <a:off x="9575800" y="4927600"/>
            <a:ext cx="193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3.5 天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9" name="configs-bottom"/>
          <p:cNvSpPr/>
          <p:nvPr/>
        </p:nvSpPr>
        <p:spPr>
          <a:xfrm>
            <a:off x="4927600" y="5372100"/>
            <a:ext cx="66802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" name="hardware"/>
          <p:cNvSpPr txBox="1"/>
          <p:nvPr/>
        </p:nvSpPr>
        <p:spPr>
          <a:xfrm>
            <a:off x="584200" y="5638800"/>
            <a:ext cx="110236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硬件：8 张 NVIDIA P100。批次约含 2.5 万源词元和 2.5 万目标词元。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Warmup 与正则化构成训练配方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§5.3–5.4、式(3)  论文 p.7,8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12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mc:AlternateContent>
        <mc:Choice Requires="a14">
          <p:sp>
            <p:nvSpPr>
              <p:cNvPr id="7" name="lr-formula"/>
              <p:cNvSpPr txBox="1"/>
              <p:nvPr/>
            </p:nvSpPr>
            <p:spPr>
              <a:xfrm>
                <a:off x="584200" y="1511300"/>
                <a:ext cx="11023600" cy="119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14:m>
                  <m:oMath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l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sz="27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sty m:val="i"/>
                          </m:rPr>
                          <a:rPr sz="27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m</m:t>
                        </m:r>
                        <m:r>
                          <m:rPr>
                            <m:sty m:val="i"/>
                          </m:rPr>
                          <a:rPr sz="27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o</m:t>
                        </m:r>
                        <m:r>
                          <m:rPr>
                            <m:sty m:val="i"/>
                          </m:rPr>
                          <a:rPr sz="27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d</m:t>
                        </m:r>
                        <m:r>
                          <m:rPr>
                            <m:sty m:val="i"/>
                          </m:rPr>
                          <a:rPr sz="27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e</m:t>
                        </m:r>
                        <m:r>
                          <m:rPr>
                            <m:sty m:val="i"/>
                          </m:rPr>
                          <a:rPr sz="27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l</m:t>
                        </m:r>
                      </m:sub>
                      <m:sup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-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5</m:t>
                        </m:r>
                      </m:sup>
                    </m:sSubSup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min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e</m:t>
                    </m:r>
                    <m:sSup>
                      <m:sSupPr>
                        <m:ctrl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sz="27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-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·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w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i"/>
                      </m:rPr>
                      <a:rPr sz="2700" i="1" b="0">
                        <a:solidFill>
                          <a:srgbClr val="820000"/>
                        </a:solidFill>
                        <a:latin typeface="Cambria Math"/>
                      </a:rPr>
                      <m:t>u</m:t>
                    </m:r>
                    <m:sSup>
                      <m:sSupPr>
                        <m:ctrl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sz="2700" i="1" b="0">
                            <a:solidFill>
                              <a:srgbClr val="820000"/>
                            </a:solidFill>
                            <a:latin typeface="Cambria Math"/>
                          </a:rP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-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sz="2700" i="0" b="0">
                            <a:solidFill>
                              <a:srgbClr val="82000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sz="2700" i="0" b="0">
                        <a:solidFill>
                          <a:srgbClr val="82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7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Choice>
        <mc:Fallback>
          <p:sp>
            <p:nvSpPr>
              <p:cNvPr id="7" name="lr-formula"/>
              <p:cNvSpPr txBox="1"/>
              <p:nvPr/>
            </p:nvSpPr>
            <p:spPr>
              <a:xfrm>
                <a:off x="584200" y="1511300"/>
                <a:ext cx="11023600" cy="119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 vert="horz" wrap="square"/>
              <a:lstStyle/>
              <a:p>
                <a:pPr algn="l">
                  <a:lnSpc>
                    <a:spcPct val="120000"/>
                  </a:lnSpc>
                </a:pPr>
                <a:r>
                  <a:rPr lang="en-US" sz="2700">
                    <a:solidFill>
                      <a:srgbClr val="820000"/>
                    </a:solidFill>
                    <a:latin typeface="Arial Unicode MS"/>
                    <a:ea typeface="Arial Unicode MS"/>
                  </a:rPr>
                  <a:t>\(lrate=d_{model}^{-0.5}\min(step^{-0.5},step\cdot warmup^{-1.5})\)</a:t>
                </a:r>
                <a:endParaRPr lang="en-US" sz="2700">
                  <a:solidFill>
                    <a:srgbClr val="820000"/>
                  </a:solidFill>
                  <a:latin typeface="Arial Unicode MS"/>
                  <a:ea typeface="Arial Unicode MS"/>
                </a:endParaRPr>
              </a:p>
            </p:txBody>
          </p:sp>
        </mc:Fallback>
      </mc:AlternateContent>
      <p:sp>
        <p:nvSpPr>
          <p:cNvPr id="8" name="warmup-caption"/>
          <p:cNvSpPr txBox="1"/>
          <p:nvPr/>
        </p:nvSpPr>
        <p:spPr>
          <a:xfrm>
            <a:off x="584200" y="2768600"/>
            <a:ext cx="57023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前 4000 步升高，随后按步数平方根衰减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lr-x"/>
          <p:cNvSpPr/>
          <p:nvPr/>
        </p:nvSpPr>
        <p:spPr>
          <a:xfrm>
            <a:off x="939800" y="5816600"/>
            <a:ext cx="51435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6D6D6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lr-y"/>
          <p:cNvSpPr/>
          <p:nvPr/>
        </p:nvSpPr>
        <p:spPr>
          <a:xfrm>
            <a:off x="939800" y="3721100"/>
            <a:ext cx="2540" cy="20955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0" y="0"/>
                </a:lnTo>
              </a:path>
            </a:pathLst>
          </a:custGeom>
          <a:noFill/>
          <a:ln w="10160">
            <a:solidFill>
              <a:srgbClr val="6D6D6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lr-segment-1"/>
          <p:cNvSpPr/>
          <p:nvPr/>
        </p:nvSpPr>
        <p:spPr>
          <a:xfrm>
            <a:off x="940057" y="5685631"/>
            <a:ext cx="64037" cy="130445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lr-segment-2"/>
          <p:cNvSpPr/>
          <p:nvPr/>
        </p:nvSpPr>
        <p:spPr>
          <a:xfrm>
            <a:off x="1004094" y="5554662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lr-segment-3"/>
          <p:cNvSpPr/>
          <p:nvPr/>
        </p:nvSpPr>
        <p:spPr>
          <a:xfrm>
            <a:off x="1068388" y="5423694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r-segment-4"/>
          <p:cNvSpPr/>
          <p:nvPr/>
        </p:nvSpPr>
        <p:spPr>
          <a:xfrm>
            <a:off x="1132681" y="5292725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r-segment-5"/>
          <p:cNvSpPr/>
          <p:nvPr/>
        </p:nvSpPr>
        <p:spPr>
          <a:xfrm>
            <a:off x="1196975" y="5161756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lr-segment-6"/>
          <p:cNvSpPr/>
          <p:nvPr/>
        </p:nvSpPr>
        <p:spPr>
          <a:xfrm>
            <a:off x="1261269" y="5030788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lr-segment-7"/>
          <p:cNvSpPr/>
          <p:nvPr/>
        </p:nvSpPr>
        <p:spPr>
          <a:xfrm>
            <a:off x="1325562" y="4899819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lr-segment-8"/>
          <p:cNvSpPr/>
          <p:nvPr/>
        </p:nvSpPr>
        <p:spPr>
          <a:xfrm>
            <a:off x="1389856" y="4768850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lr-segment-9"/>
          <p:cNvSpPr/>
          <p:nvPr/>
        </p:nvSpPr>
        <p:spPr>
          <a:xfrm>
            <a:off x="1454150" y="4637881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lr-segment-10"/>
          <p:cNvSpPr/>
          <p:nvPr/>
        </p:nvSpPr>
        <p:spPr>
          <a:xfrm>
            <a:off x="1518444" y="4506912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lr-segment-11"/>
          <p:cNvSpPr/>
          <p:nvPr/>
        </p:nvSpPr>
        <p:spPr>
          <a:xfrm>
            <a:off x="1582738" y="4375944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lr-segment-12"/>
          <p:cNvSpPr/>
          <p:nvPr/>
        </p:nvSpPr>
        <p:spPr>
          <a:xfrm>
            <a:off x="1647031" y="4244975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" name="lr-segment-13"/>
          <p:cNvSpPr/>
          <p:nvPr/>
        </p:nvSpPr>
        <p:spPr>
          <a:xfrm>
            <a:off x="1711325" y="4114006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lr-segment-14"/>
          <p:cNvSpPr/>
          <p:nvPr/>
        </p:nvSpPr>
        <p:spPr>
          <a:xfrm>
            <a:off x="1775619" y="3983038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lr-segment-15"/>
          <p:cNvSpPr/>
          <p:nvPr/>
        </p:nvSpPr>
        <p:spPr>
          <a:xfrm>
            <a:off x="1839912" y="3852069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lr-segment-16"/>
          <p:cNvSpPr/>
          <p:nvPr/>
        </p:nvSpPr>
        <p:spPr>
          <a:xfrm>
            <a:off x="1904206" y="3721100"/>
            <a:ext cx="64294" cy="1309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12700"/>
                </a:moveTo>
                <a:lnTo>
                  <a:pt x="12700" y="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lr-segment-17"/>
          <p:cNvSpPr/>
          <p:nvPr/>
        </p:nvSpPr>
        <p:spPr>
          <a:xfrm>
            <a:off x="1968500" y="3721100"/>
            <a:ext cx="64294" cy="62566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" name="lr-segment-18"/>
          <p:cNvSpPr/>
          <p:nvPr/>
        </p:nvSpPr>
        <p:spPr>
          <a:xfrm>
            <a:off x="2032794" y="3783666"/>
            <a:ext cx="64294" cy="57277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" name="lr-segment-19"/>
          <p:cNvSpPr/>
          <p:nvPr/>
        </p:nvSpPr>
        <p:spPr>
          <a:xfrm>
            <a:off x="2097088" y="3840944"/>
            <a:ext cx="64294" cy="52694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lr-segment-20"/>
          <p:cNvSpPr/>
          <p:nvPr/>
        </p:nvSpPr>
        <p:spPr>
          <a:xfrm>
            <a:off x="2161381" y="3893637"/>
            <a:ext cx="64294" cy="48691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" name="lr-segment-21"/>
          <p:cNvSpPr/>
          <p:nvPr/>
        </p:nvSpPr>
        <p:spPr>
          <a:xfrm>
            <a:off x="2225675" y="3942328"/>
            <a:ext cx="64294" cy="4517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" name="lr-segment-22"/>
          <p:cNvSpPr/>
          <p:nvPr/>
        </p:nvSpPr>
        <p:spPr>
          <a:xfrm>
            <a:off x="2289969" y="3987498"/>
            <a:ext cx="64294" cy="42054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" name="lr-segment-23"/>
          <p:cNvSpPr/>
          <p:nvPr/>
        </p:nvSpPr>
        <p:spPr>
          <a:xfrm>
            <a:off x="2354262" y="4029552"/>
            <a:ext cx="64294" cy="39281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" name="lr-segment-24"/>
          <p:cNvSpPr/>
          <p:nvPr/>
        </p:nvSpPr>
        <p:spPr>
          <a:xfrm>
            <a:off x="2418556" y="4068832"/>
            <a:ext cx="64294" cy="3679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" name="lr-segment-25"/>
          <p:cNvSpPr/>
          <p:nvPr/>
        </p:nvSpPr>
        <p:spPr>
          <a:xfrm>
            <a:off x="2482850" y="4105631"/>
            <a:ext cx="64294" cy="345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" name="lr-segment-26"/>
          <p:cNvSpPr/>
          <p:nvPr/>
        </p:nvSpPr>
        <p:spPr>
          <a:xfrm>
            <a:off x="2547144" y="4140200"/>
            <a:ext cx="64294" cy="32555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" name="lr-segment-27"/>
          <p:cNvSpPr/>
          <p:nvPr/>
        </p:nvSpPr>
        <p:spPr>
          <a:xfrm>
            <a:off x="2611438" y="4172755"/>
            <a:ext cx="64294" cy="3072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" name="lr-segment-28"/>
          <p:cNvSpPr/>
          <p:nvPr/>
        </p:nvSpPr>
        <p:spPr>
          <a:xfrm>
            <a:off x="2675731" y="4203483"/>
            <a:ext cx="64294" cy="29068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" name="lr-segment-29"/>
          <p:cNvSpPr/>
          <p:nvPr/>
        </p:nvSpPr>
        <p:spPr>
          <a:xfrm>
            <a:off x="2740025" y="4232551"/>
            <a:ext cx="64294" cy="27551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" name="lr-segment-30"/>
          <p:cNvSpPr/>
          <p:nvPr/>
        </p:nvSpPr>
        <p:spPr>
          <a:xfrm>
            <a:off x="2804319" y="4260102"/>
            <a:ext cx="64294" cy="26161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" name="lr-segment-31"/>
          <p:cNvSpPr/>
          <p:nvPr/>
        </p:nvSpPr>
        <p:spPr>
          <a:xfrm>
            <a:off x="2868612" y="4286263"/>
            <a:ext cx="64294" cy="24885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" name="lr-segment-32"/>
          <p:cNvSpPr/>
          <p:nvPr/>
        </p:nvSpPr>
        <p:spPr>
          <a:xfrm>
            <a:off x="2932906" y="4311148"/>
            <a:ext cx="64294" cy="2370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" name="lr-segment-33"/>
          <p:cNvSpPr/>
          <p:nvPr/>
        </p:nvSpPr>
        <p:spPr>
          <a:xfrm>
            <a:off x="2997200" y="4334858"/>
            <a:ext cx="64294" cy="22623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" name="lr-segment-34"/>
          <p:cNvSpPr/>
          <p:nvPr/>
        </p:nvSpPr>
        <p:spPr>
          <a:xfrm>
            <a:off x="3061494" y="4357481"/>
            <a:ext cx="64294" cy="21618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" name="lr-segment-35"/>
          <p:cNvSpPr/>
          <p:nvPr/>
        </p:nvSpPr>
        <p:spPr>
          <a:xfrm>
            <a:off x="3125788" y="4379099"/>
            <a:ext cx="64294" cy="20685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" name="lr-segment-36"/>
          <p:cNvSpPr/>
          <p:nvPr/>
        </p:nvSpPr>
        <p:spPr>
          <a:xfrm>
            <a:off x="3190081" y="4399783"/>
            <a:ext cx="64294" cy="19817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" name="lr-segment-37"/>
          <p:cNvSpPr/>
          <p:nvPr/>
        </p:nvSpPr>
        <p:spPr>
          <a:xfrm>
            <a:off x="3254375" y="4419600"/>
            <a:ext cx="64294" cy="19008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" name="lr-segment-38"/>
          <p:cNvSpPr/>
          <p:nvPr/>
        </p:nvSpPr>
        <p:spPr>
          <a:xfrm>
            <a:off x="3318669" y="4438608"/>
            <a:ext cx="64294" cy="18252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" name="lr-segment-39"/>
          <p:cNvSpPr/>
          <p:nvPr/>
        </p:nvSpPr>
        <p:spPr>
          <a:xfrm>
            <a:off x="3382962" y="4456860"/>
            <a:ext cx="64294" cy="17546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" name="lr-segment-40"/>
          <p:cNvSpPr/>
          <p:nvPr/>
        </p:nvSpPr>
        <p:spPr>
          <a:xfrm>
            <a:off x="3447256" y="4474406"/>
            <a:ext cx="64294" cy="16884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" name="lr-segment-41"/>
          <p:cNvSpPr/>
          <p:nvPr/>
        </p:nvSpPr>
        <p:spPr>
          <a:xfrm>
            <a:off x="3511550" y="4491289"/>
            <a:ext cx="64294" cy="16262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" name="lr-segment-42"/>
          <p:cNvSpPr/>
          <p:nvPr/>
        </p:nvSpPr>
        <p:spPr>
          <a:xfrm>
            <a:off x="3575844" y="4507552"/>
            <a:ext cx="64294" cy="15678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" name="lr-segment-43"/>
          <p:cNvSpPr/>
          <p:nvPr/>
        </p:nvSpPr>
        <p:spPr>
          <a:xfrm>
            <a:off x="3640138" y="4523229"/>
            <a:ext cx="64294" cy="15128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" name="lr-segment-44"/>
          <p:cNvSpPr/>
          <p:nvPr/>
        </p:nvSpPr>
        <p:spPr>
          <a:xfrm>
            <a:off x="3704431" y="4538357"/>
            <a:ext cx="64294" cy="1460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" name="lr-segment-45"/>
          <p:cNvSpPr/>
          <p:nvPr/>
        </p:nvSpPr>
        <p:spPr>
          <a:xfrm>
            <a:off x="3768725" y="4552966"/>
            <a:ext cx="64294" cy="1411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" name="lr-segment-46"/>
          <p:cNvSpPr/>
          <p:nvPr/>
        </p:nvSpPr>
        <p:spPr>
          <a:xfrm>
            <a:off x="3833019" y="4567085"/>
            <a:ext cx="64294" cy="13656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" name="lr-segment-47"/>
          <p:cNvSpPr/>
          <p:nvPr/>
        </p:nvSpPr>
        <p:spPr>
          <a:xfrm>
            <a:off x="3897312" y="4580742"/>
            <a:ext cx="64294" cy="13218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" name="lr-segment-48"/>
          <p:cNvSpPr/>
          <p:nvPr/>
        </p:nvSpPr>
        <p:spPr>
          <a:xfrm>
            <a:off x="3961606" y="4593960"/>
            <a:ext cx="64294" cy="12803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" name="lr-segment-49"/>
          <p:cNvSpPr/>
          <p:nvPr/>
        </p:nvSpPr>
        <p:spPr>
          <a:xfrm>
            <a:off x="4025900" y="4606763"/>
            <a:ext cx="64294" cy="1240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" name="lr-segment-50"/>
          <p:cNvSpPr/>
          <p:nvPr/>
        </p:nvSpPr>
        <p:spPr>
          <a:xfrm>
            <a:off x="4090194" y="4619171"/>
            <a:ext cx="64294" cy="12035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" name="lr-segment-51"/>
          <p:cNvSpPr/>
          <p:nvPr/>
        </p:nvSpPr>
        <p:spPr>
          <a:xfrm>
            <a:off x="4154488" y="4631206"/>
            <a:ext cx="64294" cy="1167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" name="lr-segment-52"/>
          <p:cNvSpPr/>
          <p:nvPr/>
        </p:nvSpPr>
        <p:spPr>
          <a:xfrm>
            <a:off x="4218781" y="4642885"/>
            <a:ext cx="64294" cy="11341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" name="lr-segment-53"/>
          <p:cNvSpPr/>
          <p:nvPr/>
        </p:nvSpPr>
        <p:spPr>
          <a:xfrm>
            <a:off x="4283075" y="4654226"/>
            <a:ext cx="64294" cy="11018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" name="lr-segment-54"/>
          <p:cNvSpPr/>
          <p:nvPr/>
        </p:nvSpPr>
        <p:spPr>
          <a:xfrm>
            <a:off x="4347369" y="4665244"/>
            <a:ext cx="64294" cy="10711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" name="lr-segment-55"/>
          <p:cNvSpPr/>
          <p:nvPr/>
        </p:nvSpPr>
        <p:spPr>
          <a:xfrm>
            <a:off x="4411662" y="4675954"/>
            <a:ext cx="64294" cy="10417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" name="lr-segment-56"/>
          <p:cNvSpPr/>
          <p:nvPr/>
        </p:nvSpPr>
        <p:spPr>
          <a:xfrm>
            <a:off x="4475956" y="4686371"/>
            <a:ext cx="64294" cy="10137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" name="lr-segment-57"/>
          <p:cNvSpPr/>
          <p:nvPr/>
        </p:nvSpPr>
        <p:spPr>
          <a:xfrm>
            <a:off x="4540250" y="4696508"/>
            <a:ext cx="64294" cy="986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" name="lr-segment-58"/>
          <p:cNvSpPr/>
          <p:nvPr/>
        </p:nvSpPr>
        <p:spPr>
          <a:xfrm>
            <a:off x="4604544" y="4706377"/>
            <a:ext cx="64294" cy="9613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" name="lr-segment-59"/>
          <p:cNvSpPr/>
          <p:nvPr/>
        </p:nvSpPr>
        <p:spPr>
          <a:xfrm>
            <a:off x="4668838" y="4715989"/>
            <a:ext cx="64294" cy="9367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" name="lr-segment-60"/>
          <p:cNvSpPr/>
          <p:nvPr/>
        </p:nvSpPr>
        <p:spPr>
          <a:xfrm>
            <a:off x="4733131" y="4725357"/>
            <a:ext cx="64294" cy="9132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" name="lr-segment-61"/>
          <p:cNvSpPr/>
          <p:nvPr/>
        </p:nvSpPr>
        <p:spPr>
          <a:xfrm>
            <a:off x="4797425" y="4734488"/>
            <a:ext cx="64294" cy="8906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" name="lr-segment-62"/>
          <p:cNvSpPr/>
          <p:nvPr/>
        </p:nvSpPr>
        <p:spPr>
          <a:xfrm>
            <a:off x="4861719" y="4743395"/>
            <a:ext cx="64294" cy="869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" name="lr-segment-63"/>
          <p:cNvSpPr/>
          <p:nvPr/>
        </p:nvSpPr>
        <p:spPr>
          <a:xfrm>
            <a:off x="4926012" y="4752085"/>
            <a:ext cx="64294" cy="8482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" name="lr-segment-64"/>
          <p:cNvSpPr/>
          <p:nvPr/>
        </p:nvSpPr>
        <p:spPr>
          <a:xfrm>
            <a:off x="4990306" y="4760567"/>
            <a:ext cx="64294" cy="8283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" name="lr-segment-65"/>
          <p:cNvSpPr/>
          <p:nvPr/>
        </p:nvSpPr>
        <p:spPr>
          <a:xfrm>
            <a:off x="5054600" y="4768850"/>
            <a:ext cx="64294" cy="8091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" name="lr-segment-66"/>
          <p:cNvSpPr/>
          <p:nvPr/>
        </p:nvSpPr>
        <p:spPr>
          <a:xfrm>
            <a:off x="5118894" y="4776941"/>
            <a:ext cx="64294" cy="7906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" name="lr-segment-67"/>
          <p:cNvSpPr/>
          <p:nvPr/>
        </p:nvSpPr>
        <p:spPr>
          <a:xfrm>
            <a:off x="5183188" y="4784847"/>
            <a:ext cx="64294" cy="772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8" name="lr-segment-68"/>
          <p:cNvSpPr/>
          <p:nvPr/>
        </p:nvSpPr>
        <p:spPr>
          <a:xfrm>
            <a:off x="5247481" y="4792576"/>
            <a:ext cx="64294" cy="7557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9" name="lr-segment-69"/>
          <p:cNvSpPr/>
          <p:nvPr/>
        </p:nvSpPr>
        <p:spPr>
          <a:xfrm>
            <a:off x="5311775" y="4800133"/>
            <a:ext cx="64294" cy="7393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" name="lr-segment-70"/>
          <p:cNvSpPr/>
          <p:nvPr/>
        </p:nvSpPr>
        <p:spPr>
          <a:xfrm>
            <a:off x="5376069" y="4807526"/>
            <a:ext cx="64294" cy="7234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" name="lr-segment-71"/>
          <p:cNvSpPr/>
          <p:nvPr/>
        </p:nvSpPr>
        <p:spPr>
          <a:xfrm>
            <a:off x="5440362" y="4814759"/>
            <a:ext cx="64294" cy="708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" name="lr-segment-72"/>
          <p:cNvSpPr/>
          <p:nvPr/>
        </p:nvSpPr>
        <p:spPr>
          <a:xfrm>
            <a:off x="5504656" y="4821840"/>
            <a:ext cx="64294" cy="6932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" name="lr-segment-73"/>
          <p:cNvSpPr/>
          <p:nvPr/>
        </p:nvSpPr>
        <p:spPr>
          <a:xfrm>
            <a:off x="5568950" y="4828772"/>
            <a:ext cx="64294" cy="678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4" name="lr-segment-74"/>
          <p:cNvSpPr/>
          <p:nvPr/>
        </p:nvSpPr>
        <p:spPr>
          <a:xfrm>
            <a:off x="5633244" y="4835561"/>
            <a:ext cx="64294" cy="6651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5" name="lr-segment-75"/>
          <p:cNvSpPr/>
          <p:nvPr/>
        </p:nvSpPr>
        <p:spPr>
          <a:xfrm>
            <a:off x="5697538" y="4842212"/>
            <a:ext cx="64294" cy="6518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" name="lr-segment-76"/>
          <p:cNvSpPr/>
          <p:nvPr/>
        </p:nvSpPr>
        <p:spPr>
          <a:xfrm>
            <a:off x="5761831" y="4848730"/>
            <a:ext cx="64294" cy="6389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" name="lr-segment-77"/>
          <p:cNvSpPr/>
          <p:nvPr/>
        </p:nvSpPr>
        <p:spPr>
          <a:xfrm>
            <a:off x="5826125" y="4855119"/>
            <a:ext cx="64294" cy="6264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" name="lr-segment-78"/>
          <p:cNvSpPr/>
          <p:nvPr/>
        </p:nvSpPr>
        <p:spPr>
          <a:xfrm>
            <a:off x="5890419" y="4861382"/>
            <a:ext cx="64294" cy="6143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" name="lr-segment-79"/>
          <p:cNvSpPr/>
          <p:nvPr/>
        </p:nvSpPr>
        <p:spPr>
          <a:xfrm>
            <a:off x="5954712" y="4867525"/>
            <a:ext cx="64294" cy="6026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" name="lr-segment-80"/>
          <p:cNvSpPr/>
          <p:nvPr/>
        </p:nvSpPr>
        <p:spPr>
          <a:xfrm>
            <a:off x="6019006" y="4873551"/>
            <a:ext cx="64294" cy="5913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12700"/>
                </a:lnTo>
              </a:path>
            </a:pathLst>
          </a:custGeom>
          <a:noFill/>
          <a:ln w="254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1" name="lr-tick-0"/>
          <p:cNvSpPr txBox="1"/>
          <p:nvPr/>
        </p:nvSpPr>
        <p:spPr>
          <a:xfrm>
            <a:off x="635000" y="588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6D6D6D"/>
                </a:solidFill>
                <a:latin typeface="Arial Unicode MS"/>
                <a:ea typeface="Arial Unicode MS"/>
              </a:rPr>
              <a:t>0k</a:t>
            </a:r>
            <a:endParaRPr lang="en-US" sz="12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92" name="lr-tick-4000"/>
          <p:cNvSpPr txBox="1"/>
          <p:nvPr/>
        </p:nvSpPr>
        <p:spPr>
          <a:xfrm>
            <a:off x="1663700" y="588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6D6D6D"/>
                </a:solidFill>
                <a:latin typeface="Arial Unicode MS"/>
                <a:ea typeface="Arial Unicode MS"/>
              </a:rPr>
              <a:t>4k</a:t>
            </a:r>
            <a:endParaRPr lang="en-US" sz="12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93" name="lr-tick-10000"/>
          <p:cNvSpPr txBox="1"/>
          <p:nvPr/>
        </p:nvSpPr>
        <p:spPr>
          <a:xfrm>
            <a:off x="3206750" y="588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6D6D6D"/>
                </a:solidFill>
                <a:latin typeface="Arial Unicode MS"/>
                <a:ea typeface="Arial Unicode MS"/>
              </a:rPr>
              <a:t>10k</a:t>
            </a:r>
            <a:endParaRPr lang="en-US" sz="12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94" name="lr-tick-20000"/>
          <p:cNvSpPr txBox="1"/>
          <p:nvPr/>
        </p:nvSpPr>
        <p:spPr>
          <a:xfrm>
            <a:off x="5778500" y="58801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6D6D6D"/>
                </a:solidFill>
                <a:latin typeface="Arial Unicode MS"/>
                <a:ea typeface="Arial Unicode MS"/>
              </a:rPr>
              <a:t>20k</a:t>
            </a:r>
            <a:endParaRPr lang="en-US" sz="12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95" name="lr-y-name"/>
          <p:cNvSpPr txBox="1"/>
          <p:nvPr/>
        </p:nvSpPr>
        <p:spPr>
          <a:xfrm>
            <a:off x="584200" y="3403600"/>
            <a:ext cx="57023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6D6D6D"/>
                </a:solidFill>
                <a:latin typeface="Arial Unicode MS"/>
                <a:ea typeface="Arial Unicode MS"/>
              </a:rPr>
              <a:t>相对学习率，峰值为 1。横轴为训练步数。</a:t>
            </a:r>
            <a:endParaRPr lang="en-US" sz="13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96" name="optimizer"/>
          <p:cNvSpPr txBox="1"/>
          <p:nvPr/>
        </p:nvSpPr>
        <p:spPr>
          <a:xfrm>
            <a:off x="7023100" y="2794000"/>
            <a:ext cx="45847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Adam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β₁=0.9，β₂=0.98，ε=10⁻⁹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7" name="dropout"/>
          <p:cNvSpPr txBox="1"/>
          <p:nvPr/>
        </p:nvSpPr>
        <p:spPr>
          <a:xfrm>
            <a:off x="7023100" y="4203700"/>
            <a:ext cx="45847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Base dropout = 0.1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标签平滑 ε = 0.1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8" name="regularization"/>
          <p:cNvSpPr txBox="1"/>
          <p:nvPr/>
        </p:nvSpPr>
        <p:spPr>
          <a:xfrm>
            <a:off x="7023100" y="5359400"/>
            <a:ext cx="45847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配方中的正则化与优化策略，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同样影响最终实验结果。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英德 Big 高于既有最佳集成 2.04 BLEU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§6.1、表2  论文 p.8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13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delta"/>
          <p:cNvSpPr txBox="1"/>
          <p:nvPr/>
        </p:nvSpPr>
        <p:spPr>
          <a:xfrm>
            <a:off x="584200" y="1803400"/>
            <a:ext cx="27305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5200" b="1">
                <a:solidFill>
                  <a:srgbClr val="820000"/>
                </a:solidFill>
                <a:latin typeface="Arial Unicode MS"/>
                <a:ea typeface="Arial Unicode MS"/>
              </a:rPr>
              <a:t>+2.04</a:t>
            </a:r>
            <a:endParaRPr lang="en-US" sz="5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8" name="delta-caption"/>
          <p:cNvSpPr txBox="1"/>
          <p:nvPr/>
        </p:nvSpPr>
        <p:spPr>
          <a:xfrm>
            <a:off x="584200" y="3124200"/>
            <a:ext cx="2946400" cy="1257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BLEU 分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相对 ConvS2S Ensemble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26.36 → 28.4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test-protocol"/>
          <p:cNvSpPr txBox="1"/>
          <p:nvPr/>
        </p:nvSpPr>
        <p:spPr>
          <a:xfrm>
            <a:off x="584200" y="4813300"/>
            <a:ext cx="2946400" cy="1257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WMT14 英德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newstest2014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Beam = 4，α = 0.6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bleu-grid-0"/>
          <p:cNvSpPr/>
          <p:nvPr/>
        </p:nvSpPr>
        <p:spPr>
          <a:xfrm>
            <a:off x="6553200" y="1841500"/>
            <a:ext cx="2540" cy="35433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bleu-tick-0"/>
          <p:cNvSpPr txBox="1"/>
          <p:nvPr/>
        </p:nvSpPr>
        <p:spPr>
          <a:xfrm>
            <a:off x="6362700" y="5486400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6D6D6D"/>
                </a:solidFill>
                <a:latin typeface="Arial Unicode MS"/>
                <a:ea typeface="Arial Unicode MS"/>
              </a:rPr>
              <a:t>0</a:t>
            </a:r>
            <a:endParaRPr lang="en-US" sz="14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bleu-grid-10"/>
          <p:cNvSpPr/>
          <p:nvPr/>
        </p:nvSpPr>
        <p:spPr>
          <a:xfrm>
            <a:off x="7912100" y="1841500"/>
            <a:ext cx="2540" cy="35433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bleu-tick-10"/>
          <p:cNvSpPr txBox="1"/>
          <p:nvPr/>
        </p:nvSpPr>
        <p:spPr>
          <a:xfrm>
            <a:off x="7721600" y="5486400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6D6D6D"/>
                </a:solidFill>
                <a:latin typeface="Arial Unicode MS"/>
                <a:ea typeface="Arial Unicode MS"/>
              </a:rPr>
              <a:t>10</a:t>
            </a:r>
            <a:endParaRPr lang="en-US" sz="14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bleu-grid-20"/>
          <p:cNvSpPr/>
          <p:nvPr/>
        </p:nvSpPr>
        <p:spPr>
          <a:xfrm>
            <a:off x="9271000" y="1841500"/>
            <a:ext cx="2540" cy="35433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bleu-tick-20"/>
          <p:cNvSpPr txBox="1"/>
          <p:nvPr/>
        </p:nvSpPr>
        <p:spPr>
          <a:xfrm>
            <a:off x="9080500" y="5486400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6D6D6D"/>
                </a:solidFill>
                <a:latin typeface="Arial Unicode MS"/>
                <a:ea typeface="Arial Unicode MS"/>
              </a:rPr>
              <a:t>20</a:t>
            </a:r>
            <a:endParaRPr lang="en-US" sz="14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bleu-grid-30"/>
          <p:cNvSpPr/>
          <p:nvPr/>
        </p:nvSpPr>
        <p:spPr>
          <a:xfrm>
            <a:off x="10629900" y="1841500"/>
            <a:ext cx="2540" cy="354330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bleu-tick-30"/>
          <p:cNvSpPr txBox="1"/>
          <p:nvPr/>
        </p:nvSpPr>
        <p:spPr>
          <a:xfrm>
            <a:off x="10439400" y="5486400"/>
            <a:ext cx="508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6D6D6D"/>
                </a:solidFill>
                <a:latin typeface="Arial Unicode MS"/>
                <a:ea typeface="Arial Unicode MS"/>
              </a:rPr>
              <a:t>30</a:t>
            </a:r>
            <a:endParaRPr lang="en-US" sz="14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model-0"/>
          <p:cNvSpPr txBox="1"/>
          <p:nvPr/>
        </p:nvSpPr>
        <p:spPr>
          <a:xfrm>
            <a:off x="3759200" y="1981200"/>
            <a:ext cx="260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600">
                <a:solidFill>
                  <a:srgbClr val="252525"/>
                </a:solidFill>
                <a:latin typeface="Arial Unicode MS"/>
                <a:ea typeface="Arial Unicode MS"/>
              </a:rPr>
              <a:t>GNMT + RL</a:t>
            </a:r>
            <a:endParaRPr lang="en-US" sz="16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bleu-bar-0"/>
          <p:cNvSpPr/>
          <p:nvPr/>
        </p:nvSpPr>
        <p:spPr>
          <a:xfrm>
            <a:off x="6553200" y="1930400"/>
            <a:ext cx="3342894" cy="393700"/>
          </a:xfrm>
          <a:prstGeom prst="rect">
            <a:avLst/>
          </a:prstGeom>
          <a:solidFill>
            <a:srgbClr val="A9AAAC"/>
          </a:solidFill>
          <a:ln>
            <a:noFill/>
          </a:ln>
        </p:spPr>
      </p:sp>
      <p:sp>
        <p:nvSpPr>
          <p:cNvPr id="20" name="bleu-value-0"/>
          <p:cNvSpPr txBox="1"/>
          <p:nvPr/>
        </p:nvSpPr>
        <p:spPr>
          <a:xfrm>
            <a:off x="10010394" y="1905000"/>
            <a:ext cx="825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252525"/>
                </a:solidFill>
                <a:latin typeface="Arial Unicode MS"/>
                <a:ea typeface="Arial Unicode MS"/>
              </a:rPr>
              <a:t>24.6</a:t>
            </a:r>
            <a:endParaRPr lang="en-US" sz="19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model-1"/>
          <p:cNvSpPr txBox="1"/>
          <p:nvPr/>
        </p:nvSpPr>
        <p:spPr>
          <a:xfrm>
            <a:off x="3759200" y="2654300"/>
            <a:ext cx="260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600">
                <a:solidFill>
                  <a:srgbClr val="252525"/>
                </a:solidFill>
                <a:latin typeface="Arial Unicode MS"/>
                <a:ea typeface="Arial Unicode MS"/>
              </a:rPr>
              <a:t>MoE</a:t>
            </a:r>
            <a:endParaRPr lang="en-US" sz="16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bleu-bar-1"/>
          <p:cNvSpPr/>
          <p:nvPr/>
        </p:nvSpPr>
        <p:spPr>
          <a:xfrm>
            <a:off x="6553200" y="2603500"/>
            <a:ext cx="3537217" cy="393700"/>
          </a:xfrm>
          <a:prstGeom prst="rect">
            <a:avLst/>
          </a:prstGeom>
          <a:solidFill>
            <a:srgbClr val="A9AAAC"/>
          </a:solidFill>
          <a:ln>
            <a:noFill/>
          </a:ln>
        </p:spPr>
      </p:sp>
      <p:sp>
        <p:nvSpPr>
          <p:cNvPr id="23" name="bleu-value-1"/>
          <p:cNvSpPr txBox="1"/>
          <p:nvPr/>
        </p:nvSpPr>
        <p:spPr>
          <a:xfrm>
            <a:off x="10204717" y="2578100"/>
            <a:ext cx="825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252525"/>
                </a:solidFill>
                <a:latin typeface="Arial Unicode MS"/>
                <a:ea typeface="Arial Unicode MS"/>
              </a:rPr>
              <a:t>26.03</a:t>
            </a:r>
            <a:endParaRPr lang="en-US" sz="19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model-2"/>
          <p:cNvSpPr txBox="1"/>
          <p:nvPr/>
        </p:nvSpPr>
        <p:spPr>
          <a:xfrm>
            <a:off x="3759200" y="3327400"/>
            <a:ext cx="260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600">
                <a:solidFill>
                  <a:srgbClr val="252525"/>
                </a:solidFill>
                <a:latin typeface="Arial Unicode MS"/>
                <a:ea typeface="Arial Unicode MS"/>
              </a:rPr>
              <a:t>ConvS2S Ensemble</a:t>
            </a:r>
            <a:endParaRPr lang="en-US" sz="16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5" name="bleu-bar-2"/>
          <p:cNvSpPr/>
          <p:nvPr/>
        </p:nvSpPr>
        <p:spPr>
          <a:xfrm>
            <a:off x="6553200" y="3276600"/>
            <a:ext cx="3582060" cy="393700"/>
          </a:xfrm>
          <a:prstGeom prst="rect">
            <a:avLst/>
          </a:prstGeom>
          <a:solidFill>
            <a:srgbClr val="A9AAAC"/>
          </a:solidFill>
          <a:ln>
            <a:noFill/>
          </a:ln>
        </p:spPr>
      </p:sp>
      <p:sp>
        <p:nvSpPr>
          <p:cNvPr id="26" name="bleu-value-2"/>
          <p:cNvSpPr txBox="1"/>
          <p:nvPr/>
        </p:nvSpPr>
        <p:spPr>
          <a:xfrm>
            <a:off x="10249560" y="3251200"/>
            <a:ext cx="825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252525"/>
                </a:solidFill>
                <a:latin typeface="Arial Unicode MS"/>
                <a:ea typeface="Arial Unicode MS"/>
              </a:rPr>
              <a:t>26.36</a:t>
            </a:r>
            <a:endParaRPr lang="en-US" sz="19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model-3"/>
          <p:cNvSpPr txBox="1"/>
          <p:nvPr/>
        </p:nvSpPr>
        <p:spPr>
          <a:xfrm>
            <a:off x="3759200" y="4000500"/>
            <a:ext cx="260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600">
                <a:solidFill>
                  <a:srgbClr val="252525"/>
                </a:solidFill>
                <a:latin typeface="Arial Unicode MS"/>
                <a:ea typeface="Arial Unicode MS"/>
              </a:rPr>
              <a:t>Transformer Base</a:t>
            </a:r>
            <a:endParaRPr lang="en-US" sz="16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8" name="bleu-bar-3"/>
          <p:cNvSpPr/>
          <p:nvPr/>
        </p:nvSpPr>
        <p:spPr>
          <a:xfrm>
            <a:off x="6553200" y="3949700"/>
            <a:ext cx="3709797" cy="393700"/>
          </a:xfrm>
          <a:prstGeom prst="rect">
            <a:avLst/>
          </a:prstGeom>
          <a:solidFill>
            <a:srgbClr val="E69138"/>
          </a:solidFill>
          <a:ln>
            <a:noFill/>
          </a:ln>
        </p:spPr>
      </p:sp>
      <p:sp>
        <p:nvSpPr>
          <p:cNvPr id="29" name="bleu-value-3"/>
          <p:cNvSpPr txBox="1"/>
          <p:nvPr/>
        </p:nvSpPr>
        <p:spPr>
          <a:xfrm>
            <a:off x="10377297" y="3924300"/>
            <a:ext cx="825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252525"/>
                </a:solidFill>
                <a:latin typeface="Arial Unicode MS"/>
                <a:ea typeface="Arial Unicode MS"/>
              </a:rPr>
              <a:t>27.3</a:t>
            </a:r>
            <a:endParaRPr lang="en-US" sz="19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0" name="model-4"/>
          <p:cNvSpPr txBox="1"/>
          <p:nvPr/>
        </p:nvSpPr>
        <p:spPr>
          <a:xfrm>
            <a:off x="3759200" y="4673600"/>
            <a:ext cx="2603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600" b="1">
                <a:solidFill>
                  <a:srgbClr val="820000"/>
                </a:solidFill>
                <a:latin typeface="Arial Unicode MS"/>
                <a:ea typeface="Arial Unicode MS"/>
              </a:rPr>
              <a:t>Transformer Big</a:t>
            </a:r>
            <a:endParaRPr lang="en-US" sz="16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1" name="bleu-bar-4"/>
          <p:cNvSpPr/>
          <p:nvPr/>
        </p:nvSpPr>
        <p:spPr>
          <a:xfrm>
            <a:off x="6553200" y="4622800"/>
            <a:ext cx="3859276" cy="393700"/>
          </a:xfrm>
          <a:prstGeom prst="rect">
            <a:avLst/>
          </a:prstGeom>
          <a:solidFill>
            <a:srgbClr val="820000"/>
          </a:solidFill>
          <a:ln>
            <a:noFill/>
          </a:ln>
        </p:spPr>
      </p:sp>
      <p:sp>
        <p:nvSpPr>
          <p:cNvPr id="32" name="bleu-value-4"/>
          <p:cNvSpPr txBox="1"/>
          <p:nvPr/>
        </p:nvSpPr>
        <p:spPr>
          <a:xfrm>
            <a:off x="10526776" y="4597400"/>
            <a:ext cx="825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 b="1">
                <a:solidFill>
                  <a:srgbClr val="820000"/>
                </a:solidFill>
                <a:latin typeface="Arial Unicode MS"/>
                <a:ea typeface="Arial Unicode MS"/>
              </a:rPr>
              <a:t>28.4</a:t>
            </a:r>
            <a:endParaRPr lang="en-US" sz="19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3" name="bleu-axis"/>
          <p:cNvSpPr txBox="1"/>
          <p:nvPr/>
        </p:nvSpPr>
        <p:spPr>
          <a:xfrm>
            <a:off x="8001000" y="5842000"/>
            <a:ext cx="26289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400">
                <a:solidFill>
                  <a:srgbClr val="6D6D6D"/>
                </a:solidFill>
                <a:latin typeface="Arial Unicode MS"/>
                <a:ea typeface="Arial Unicode MS"/>
              </a:rPr>
              <a:t>BLEU，越高越好</a:t>
            </a:r>
            <a:endParaRPr lang="en-US" sz="14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英法表 2 显示质量与估算成本的优势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§6.1、表2、摘要  论文 p.1,8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14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fr-protocol"/>
          <p:cNvSpPr txBox="1"/>
          <p:nvPr/>
        </p:nvSpPr>
        <p:spPr>
          <a:xfrm>
            <a:off x="584200" y="1308100"/>
            <a:ext cx="77343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6D6D6D"/>
                </a:solidFill>
                <a:latin typeface="Arial Unicode MS"/>
                <a:ea typeface="Arial Unicode MS"/>
              </a:rPr>
              <a:t>WMT14 英法，newstest2014，单模型</a:t>
            </a:r>
            <a:endParaRPr lang="en-US" sz="16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8" name="fr-results-top"/>
          <p:cNvSpPr/>
          <p:nvPr/>
        </p:nvSpPr>
        <p:spPr>
          <a:xfrm>
            <a:off x="584200" y="1651000"/>
            <a:ext cx="7734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fr-results-0-0"/>
          <p:cNvSpPr txBox="1"/>
          <p:nvPr/>
        </p:nvSpPr>
        <p:spPr>
          <a:xfrm>
            <a:off x="685800" y="17526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单模型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fr-results-0-1"/>
          <p:cNvSpPr txBox="1"/>
          <p:nvPr/>
        </p:nvSpPr>
        <p:spPr>
          <a:xfrm>
            <a:off x="4241800" y="1752600"/>
            <a:ext cx="1346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BLEU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fr-results-0-2"/>
          <p:cNvSpPr txBox="1"/>
          <p:nvPr/>
        </p:nvSpPr>
        <p:spPr>
          <a:xfrm>
            <a:off x="5791200" y="1752600"/>
            <a:ext cx="24257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训练 FLOPs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fr-results-header"/>
          <p:cNvSpPr/>
          <p:nvPr/>
        </p:nvSpPr>
        <p:spPr>
          <a:xfrm>
            <a:off x="584200" y="2349500"/>
            <a:ext cx="7734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fr-results-1-0"/>
          <p:cNvSpPr txBox="1"/>
          <p:nvPr/>
        </p:nvSpPr>
        <p:spPr>
          <a:xfrm>
            <a:off x="685800" y="24511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ConvS2S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fr-results-1-1"/>
          <p:cNvSpPr txBox="1"/>
          <p:nvPr/>
        </p:nvSpPr>
        <p:spPr>
          <a:xfrm>
            <a:off x="4241800" y="2451100"/>
            <a:ext cx="1346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40.46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fr-results-1-2"/>
          <p:cNvSpPr txBox="1"/>
          <p:nvPr/>
        </p:nvSpPr>
        <p:spPr>
          <a:xfrm>
            <a:off x="5791200" y="2451100"/>
            <a:ext cx="24257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1.5 × 10²⁰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fr-results-rule-1"/>
          <p:cNvSpPr/>
          <p:nvPr/>
        </p:nvSpPr>
        <p:spPr>
          <a:xfrm>
            <a:off x="584200" y="3048000"/>
            <a:ext cx="7734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fr-results-2-0"/>
          <p:cNvSpPr txBox="1"/>
          <p:nvPr/>
        </p:nvSpPr>
        <p:spPr>
          <a:xfrm>
            <a:off x="685800" y="31496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MoE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fr-results-2-1"/>
          <p:cNvSpPr txBox="1"/>
          <p:nvPr/>
        </p:nvSpPr>
        <p:spPr>
          <a:xfrm>
            <a:off x="4241800" y="3149600"/>
            <a:ext cx="1346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40.56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fr-results-2-2"/>
          <p:cNvSpPr txBox="1"/>
          <p:nvPr/>
        </p:nvSpPr>
        <p:spPr>
          <a:xfrm>
            <a:off x="5791200" y="3149600"/>
            <a:ext cx="24257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1.2 × 10²⁰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0" name="fr-results-rule-2"/>
          <p:cNvSpPr/>
          <p:nvPr/>
        </p:nvSpPr>
        <p:spPr>
          <a:xfrm>
            <a:off x="584200" y="3746500"/>
            <a:ext cx="7734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fr-results-hi-3"/>
          <p:cNvSpPr/>
          <p:nvPr/>
        </p:nvSpPr>
        <p:spPr>
          <a:xfrm>
            <a:off x="584200" y="3746500"/>
            <a:ext cx="7734300" cy="698500"/>
          </a:xfrm>
          <a:prstGeom prst="rect">
            <a:avLst/>
          </a:prstGeom>
          <a:solidFill>
            <a:srgbClr val="F4E8E6"/>
          </a:solidFill>
          <a:ln>
            <a:noFill/>
          </a:ln>
        </p:spPr>
      </p:sp>
      <p:sp>
        <p:nvSpPr>
          <p:cNvPr id="22" name="fr-results-3-0"/>
          <p:cNvSpPr txBox="1"/>
          <p:nvPr/>
        </p:nvSpPr>
        <p:spPr>
          <a:xfrm>
            <a:off x="685800" y="38481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Transformer Big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fr-results-3-1"/>
          <p:cNvSpPr txBox="1"/>
          <p:nvPr/>
        </p:nvSpPr>
        <p:spPr>
          <a:xfrm>
            <a:off x="4241800" y="3848100"/>
            <a:ext cx="1346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41.8 †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fr-results-3-2"/>
          <p:cNvSpPr txBox="1"/>
          <p:nvPr/>
        </p:nvSpPr>
        <p:spPr>
          <a:xfrm>
            <a:off x="5791200" y="3848100"/>
            <a:ext cx="24257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2.3 × 10¹⁹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5" name="fr-results-bottom"/>
          <p:cNvSpPr/>
          <p:nvPr/>
        </p:nvSpPr>
        <p:spPr>
          <a:xfrm>
            <a:off x="584200" y="4445000"/>
            <a:ext cx="7734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" name="fr-cost"/>
          <p:cNvSpPr txBox="1"/>
          <p:nvPr/>
        </p:nvSpPr>
        <p:spPr>
          <a:xfrm>
            <a:off x="8864600" y="1778000"/>
            <a:ext cx="27432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300" b="1">
                <a:solidFill>
                  <a:srgbClr val="820000"/>
                </a:solidFill>
                <a:latin typeface="Arial Unicode MS"/>
                <a:ea typeface="Arial Unicode MS"/>
              </a:rPr>
              <a:t>约 5.2 倍</a:t>
            </a:r>
            <a:endParaRPr lang="en-US" sz="33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fr-cost-note"/>
          <p:cNvSpPr txBox="1"/>
          <p:nvPr/>
        </p:nvSpPr>
        <p:spPr>
          <a:xfrm>
            <a:off x="8864600" y="3124200"/>
            <a:ext cx="2743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MoE 的估算训练成本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÷ Transformer Big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均为英法单模型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28" name="fr-conflict"/>
          <p:cNvSpPr txBox="1"/>
          <p:nvPr/>
        </p:nvSpPr>
        <p:spPr>
          <a:xfrm>
            <a:off x="584200" y="4902200"/>
            <a:ext cx="11023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† 表 2 与摘要为 41.8，§6.1 正文为 41.0。本页按表 2 展示，保留原文冲突。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9" name="fr-caveat"/>
          <p:cNvSpPr txBox="1"/>
          <p:nvPr/>
        </p:nvSpPr>
        <p:spPr>
          <a:xfrm>
            <a:off x="584200" y="5778500"/>
            <a:ext cx="11023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6D6D6D"/>
                </a:solidFill>
                <a:latin typeface="Arial Unicode MS"/>
                <a:ea typeface="Arial Unicode MS"/>
              </a:rPr>
              <a:t>FLOPs 为跨文献估算，非同硬件实测。Base 英法为 38.1 BLEU。未报告置信区间。</a:t>
            </a:r>
            <a:endParaRPr lang="en-US" sz="15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多头有效，头数增加并不保证更好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§6.2、表3(A)  论文 p.9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15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head-result"/>
          <p:cNvSpPr txBox="1"/>
          <p:nvPr/>
        </p:nvSpPr>
        <p:spPr>
          <a:xfrm>
            <a:off x="584200" y="1549400"/>
            <a:ext cx="34544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300" b="1">
                <a:solidFill>
                  <a:srgbClr val="252525"/>
                </a:solidFill>
                <a:latin typeface="Arial Unicode MS"/>
                <a:ea typeface="Arial Unicode MS"/>
              </a:rPr>
              <a:t>1 头降低 0.9 BLEU。</a:t>
            </a:r>
            <a:endParaRPr lang="en-US" sz="2300" b="1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300" b="1">
                <a:solidFill>
                  <a:srgbClr val="252525"/>
                </a:solidFill>
                <a:latin typeface="Arial Unicode MS"/>
                <a:ea typeface="Arial Unicode MS"/>
              </a:rPr>
              <a:t>32 头也低于 8 头。</a:t>
            </a:r>
            <a:endParaRPr lang="en-US" sz="23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8" name="head-context"/>
          <p:cNvSpPr txBox="1"/>
          <p:nvPr/>
        </p:nvSpPr>
        <p:spPr>
          <a:xfrm>
            <a:off x="584200" y="3263900"/>
            <a:ext cx="3454400" cy="212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头数 h 增加时，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每头维度同步减小。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比较保持计算量近似不变。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head-table-top"/>
          <p:cNvSpPr/>
          <p:nvPr/>
        </p:nvSpPr>
        <p:spPr>
          <a:xfrm>
            <a:off x="4622800" y="1625600"/>
            <a:ext cx="6985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head-table-0-0"/>
          <p:cNvSpPr txBox="1"/>
          <p:nvPr/>
        </p:nvSpPr>
        <p:spPr>
          <a:xfrm>
            <a:off x="4724400" y="1727200"/>
            <a:ext cx="9652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头数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head-table-0-1"/>
          <p:cNvSpPr txBox="1"/>
          <p:nvPr/>
        </p:nvSpPr>
        <p:spPr>
          <a:xfrm>
            <a:off x="5892800" y="1727200"/>
            <a:ext cx="139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每头维度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head-table-0-2"/>
          <p:cNvSpPr txBox="1"/>
          <p:nvPr/>
        </p:nvSpPr>
        <p:spPr>
          <a:xfrm>
            <a:off x="7493000" y="1727200"/>
            <a:ext cx="1143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BLEU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head-table-0-3"/>
          <p:cNvSpPr txBox="1"/>
          <p:nvPr/>
        </p:nvSpPr>
        <p:spPr>
          <a:xfrm>
            <a:off x="8839200" y="17272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相对 8 头 ΔBLEU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head-table-header"/>
          <p:cNvSpPr/>
          <p:nvPr/>
        </p:nvSpPr>
        <p:spPr>
          <a:xfrm>
            <a:off x="4622800" y="2235200"/>
            <a:ext cx="6985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head-table-1-0"/>
          <p:cNvSpPr txBox="1"/>
          <p:nvPr/>
        </p:nvSpPr>
        <p:spPr>
          <a:xfrm>
            <a:off x="4724400" y="2336800"/>
            <a:ext cx="9652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1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head-table-1-1"/>
          <p:cNvSpPr txBox="1"/>
          <p:nvPr/>
        </p:nvSpPr>
        <p:spPr>
          <a:xfrm>
            <a:off x="5892800" y="2336800"/>
            <a:ext cx="139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512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head-table-1-2"/>
          <p:cNvSpPr txBox="1"/>
          <p:nvPr/>
        </p:nvSpPr>
        <p:spPr>
          <a:xfrm>
            <a:off x="7493000" y="2336800"/>
            <a:ext cx="1143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24.9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head-table-1-3"/>
          <p:cNvSpPr txBox="1"/>
          <p:nvPr/>
        </p:nvSpPr>
        <p:spPr>
          <a:xfrm>
            <a:off x="8839200" y="23368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-0.9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head-table-rule-1"/>
          <p:cNvSpPr/>
          <p:nvPr/>
        </p:nvSpPr>
        <p:spPr>
          <a:xfrm>
            <a:off x="4622800" y="2844800"/>
            <a:ext cx="6985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head-table-2-0"/>
          <p:cNvSpPr txBox="1"/>
          <p:nvPr/>
        </p:nvSpPr>
        <p:spPr>
          <a:xfrm>
            <a:off x="4724400" y="2946400"/>
            <a:ext cx="9652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4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head-table-2-1"/>
          <p:cNvSpPr txBox="1"/>
          <p:nvPr/>
        </p:nvSpPr>
        <p:spPr>
          <a:xfrm>
            <a:off x="5892800" y="2946400"/>
            <a:ext cx="139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128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head-table-2-2"/>
          <p:cNvSpPr txBox="1"/>
          <p:nvPr/>
        </p:nvSpPr>
        <p:spPr>
          <a:xfrm>
            <a:off x="7493000" y="2946400"/>
            <a:ext cx="1143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25.5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head-table-2-3"/>
          <p:cNvSpPr txBox="1"/>
          <p:nvPr/>
        </p:nvSpPr>
        <p:spPr>
          <a:xfrm>
            <a:off x="8839200" y="29464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-0.3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head-table-rule-2"/>
          <p:cNvSpPr/>
          <p:nvPr/>
        </p:nvSpPr>
        <p:spPr>
          <a:xfrm>
            <a:off x="4622800" y="3454400"/>
            <a:ext cx="6985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head-table-hi-3"/>
          <p:cNvSpPr/>
          <p:nvPr/>
        </p:nvSpPr>
        <p:spPr>
          <a:xfrm>
            <a:off x="4622800" y="3454400"/>
            <a:ext cx="6985000" cy="609600"/>
          </a:xfrm>
          <a:prstGeom prst="rect">
            <a:avLst/>
          </a:prstGeom>
          <a:solidFill>
            <a:srgbClr val="F4E8E6"/>
          </a:solidFill>
          <a:ln>
            <a:noFill/>
          </a:ln>
        </p:spPr>
      </p:sp>
      <p:sp>
        <p:nvSpPr>
          <p:cNvPr id="26" name="head-table-3-0"/>
          <p:cNvSpPr txBox="1"/>
          <p:nvPr/>
        </p:nvSpPr>
        <p:spPr>
          <a:xfrm>
            <a:off x="4724400" y="3556000"/>
            <a:ext cx="9652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8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head-table-3-1"/>
          <p:cNvSpPr txBox="1"/>
          <p:nvPr/>
        </p:nvSpPr>
        <p:spPr>
          <a:xfrm>
            <a:off x="5892800" y="3556000"/>
            <a:ext cx="139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64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8" name="head-table-3-2"/>
          <p:cNvSpPr txBox="1"/>
          <p:nvPr/>
        </p:nvSpPr>
        <p:spPr>
          <a:xfrm>
            <a:off x="7493000" y="3556000"/>
            <a:ext cx="1143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25.8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9" name="head-table-3-3"/>
          <p:cNvSpPr txBox="1"/>
          <p:nvPr/>
        </p:nvSpPr>
        <p:spPr>
          <a:xfrm>
            <a:off x="8839200" y="35560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0.0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0" name="head-table-rule-3"/>
          <p:cNvSpPr/>
          <p:nvPr/>
        </p:nvSpPr>
        <p:spPr>
          <a:xfrm>
            <a:off x="4622800" y="4064000"/>
            <a:ext cx="6985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" name="head-table-hi-4"/>
          <p:cNvSpPr/>
          <p:nvPr/>
        </p:nvSpPr>
        <p:spPr>
          <a:xfrm>
            <a:off x="4622800" y="4064000"/>
            <a:ext cx="6985000" cy="609600"/>
          </a:xfrm>
          <a:prstGeom prst="rect">
            <a:avLst/>
          </a:prstGeom>
          <a:solidFill>
            <a:srgbClr val="F4E8E6"/>
          </a:solidFill>
          <a:ln>
            <a:noFill/>
          </a:ln>
        </p:spPr>
      </p:sp>
      <p:sp>
        <p:nvSpPr>
          <p:cNvPr id="32" name="head-table-4-0"/>
          <p:cNvSpPr txBox="1"/>
          <p:nvPr/>
        </p:nvSpPr>
        <p:spPr>
          <a:xfrm>
            <a:off x="4724400" y="4165600"/>
            <a:ext cx="9652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16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3" name="head-table-4-1"/>
          <p:cNvSpPr txBox="1"/>
          <p:nvPr/>
        </p:nvSpPr>
        <p:spPr>
          <a:xfrm>
            <a:off x="5892800" y="4165600"/>
            <a:ext cx="139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32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4" name="head-table-4-2"/>
          <p:cNvSpPr txBox="1"/>
          <p:nvPr/>
        </p:nvSpPr>
        <p:spPr>
          <a:xfrm>
            <a:off x="7493000" y="4165600"/>
            <a:ext cx="1143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25.8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5" name="head-table-4-3"/>
          <p:cNvSpPr txBox="1"/>
          <p:nvPr/>
        </p:nvSpPr>
        <p:spPr>
          <a:xfrm>
            <a:off x="8839200" y="41656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0.0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6" name="head-table-rule-4"/>
          <p:cNvSpPr/>
          <p:nvPr/>
        </p:nvSpPr>
        <p:spPr>
          <a:xfrm>
            <a:off x="4622800" y="4673600"/>
            <a:ext cx="6985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" name="head-table-5-0"/>
          <p:cNvSpPr txBox="1"/>
          <p:nvPr/>
        </p:nvSpPr>
        <p:spPr>
          <a:xfrm>
            <a:off x="4724400" y="4775200"/>
            <a:ext cx="9652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32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8" name="head-table-5-1"/>
          <p:cNvSpPr txBox="1"/>
          <p:nvPr/>
        </p:nvSpPr>
        <p:spPr>
          <a:xfrm>
            <a:off x="5892800" y="4775200"/>
            <a:ext cx="139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16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9" name="head-table-5-2"/>
          <p:cNvSpPr txBox="1"/>
          <p:nvPr/>
        </p:nvSpPr>
        <p:spPr>
          <a:xfrm>
            <a:off x="7493000" y="4775200"/>
            <a:ext cx="1143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25.4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40" name="head-table-5-3"/>
          <p:cNvSpPr txBox="1"/>
          <p:nvPr/>
        </p:nvSpPr>
        <p:spPr>
          <a:xfrm>
            <a:off x="8839200" y="4775200"/>
            <a:ext cx="2667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-0.4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41" name="head-table-bottom"/>
          <p:cNvSpPr/>
          <p:nvPr/>
        </p:nvSpPr>
        <p:spPr>
          <a:xfrm>
            <a:off x="4622800" y="5283200"/>
            <a:ext cx="69850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" name="dev-caveat"/>
          <p:cNvSpPr txBox="1"/>
          <p:nvPr/>
        </p:nvSpPr>
        <p:spPr>
          <a:xfrm>
            <a:off x="584200" y="5626100"/>
            <a:ext cx="1102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700">
                <a:solidFill>
                  <a:srgbClr val="6D6D6D"/>
                </a:solidFill>
                <a:latin typeface="Arial Unicode MS"/>
                <a:ea typeface="Arial Unicode MS"/>
              </a:rPr>
              <a:t>newstest2013 开发集，100K 步，无检查点平均。未报告随机种子方差。</a:t>
            </a:r>
            <a:endParaRPr lang="en-US" sz="17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容量与正则化的影响更明显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§6.2、表3(C–E)  论文 p.9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16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ablation-protocol"/>
          <p:cNvSpPr txBox="1"/>
          <p:nvPr/>
        </p:nvSpPr>
        <p:spPr>
          <a:xfrm>
            <a:off x="584200" y="1320800"/>
            <a:ext cx="110236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6D6D6D"/>
                </a:solidFill>
                <a:latin typeface="Arial Unicode MS"/>
                <a:ea typeface="Arial Unicode MS"/>
              </a:rPr>
              <a:t>WMT14 英德，newstest2013，100K 步，无检查点平均</a:t>
            </a:r>
            <a:endParaRPr lang="en-US" sz="16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8" name="ablations-top"/>
          <p:cNvSpPr/>
          <p:nvPr/>
        </p:nvSpPr>
        <p:spPr>
          <a:xfrm>
            <a:off x="584200" y="16891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" name="ablations-0-0"/>
          <p:cNvSpPr txBox="1"/>
          <p:nvPr/>
        </p:nvSpPr>
        <p:spPr>
          <a:xfrm>
            <a:off x="685800" y="1790700"/>
            <a:ext cx="50546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变化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ablations-0-1"/>
          <p:cNvSpPr txBox="1"/>
          <p:nvPr/>
        </p:nvSpPr>
        <p:spPr>
          <a:xfrm>
            <a:off x="5943600" y="1790700"/>
            <a:ext cx="12954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BLEU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ablations-0-2"/>
          <p:cNvSpPr txBox="1"/>
          <p:nvPr/>
        </p:nvSpPr>
        <p:spPr>
          <a:xfrm>
            <a:off x="7442200" y="1790700"/>
            <a:ext cx="15748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相对 Base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ablations-0-3"/>
          <p:cNvSpPr txBox="1"/>
          <p:nvPr/>
        </p:nvSpPr>
        <p:spPr>
          <a:xfrm>
            <a:off x="9220200" y="1790700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控制条件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ablations-header"/>
          <p:cNvSpPr/>
          <p:nvPr/>
        </p:nvSpPr>
        <p:spPr>
          <a:xfrm>
            <a:off x="584200" y="22987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ablations-hi-1"/>
          <p:cNvSpPr/>
          <p:nvPr/>
        </p:nvSpPr>
        <p:spPr>
          <a:xfrm>
            <a:off x="584200" y="2298700"/>
            <a:ext cx="11023600" cy="609600"/>
          </a:xfrm>
          <a:prstGeom prst="rect">
            <a:avLst/>
          </a:prstGeom>
          <a:solidFill>
            <a:srgbClr val="F4E8E6"/>
          </a:solidFill>
          <a:ln>
            <a:noFill/>
          </a:ln>
        </p:spPr>
      </p:sp>
      <p:sp>
        <p:nvSpPr>
          <p:cNvPr id="15" name="ablations-1-0"/>
          <p:cNvSpPr txBox="1"/>
          <p:nvPr/>
        </p:nvSpPr>
        <p:spPr>
          <a:xfrm>
            <a:off x="685800" y="2400300"/>
            <a:ext cx="50546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Base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ablations-1-1"/>
          <p:cNvSpPr txBox="1"/>
          <p:nvPr/>
        </p:nvSpPr>
        <p:spPr>
          <a:xfrm>
            <a:off x="5943600" y="2400300"/>
            <a:ext cx="12954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25.8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ablations-1-2"/>
          <p:cNvSpPr txBox="1"/>
          <p:nvPr/>
        </p:nvSpPr>
        <p:spPr>
          <a:xfrm>
            <a:off x="7442200" y="2400300"/>
            <a:ext cx="15748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0.0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ablations-1-3"/>
          <p:cNvSpPr txBox="1"/>
          <p:nvPr/>
        </p:nvSpPr>
        <p:spPr>
          <a:xfrm>
            <a:off x="9220200" y="2400300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基准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ablations-rule-1"/>
          <p:cNvSpPr/>
          <p:nvPr/>
        </p:nvSpPr>
        <p:spPr>
          <a:xfrm>
            <a:off x="584200" y="29083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ablations-2-0"/>
          <p:cNvSpPr txBox="1"/>
          <p:nvPr/>
        </p:nvSpPr>
        <p:spPr>
          <a:xfrm>
            <a:off x="685800" y="3009900"/>
            <a:ext cx="50546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编码器 / 解码器各 2 层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ablations-2-1"/>
          <p:cNvSpPr txBox="1"/>
          <p:nvPr/>
        </p:nvSpPr>
        <p:spPr>
          <a:xfrm>
            <a:off x="5943600" y="3009900"/>
            <a:ext cx="12954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23.7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ablations-2-2"/>
          <p:cNvSpPr txBox="1"/>
          <p:nvPr/>
        </p:nvSpPr>
        <p:spPr>
          <a:xfrm>
            <a:off x="7442200" y="3009900"/>
            <a:ext cx="15748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−2.1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ablations-2-3"/>
          <p:cNvSpPr txBox="1"/>
          <p:nvPr/>
        </p:nvSpPr>
        <p:spPr>
          <a:xfrm>
            <a:off x="9220200" y="3009900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其余同 Base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ablations-rule-2"/>
          <p:cNvSpPr/>
          <p:nvPr/>
        </p:nvSpPr>
        <p:spPr>
          <a:xfrm>
            <a:off x="584200" y="35179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ablations-3-0"/>
          <p:cNvSpPr txBox="1"/>
          <p:nvPr/>
        </p:nvSpPr>
        <p:spPr>
          <a:xfrm>
            <a:off x="685800" y="3619500"/>
            <a:ext cx="50546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去掉 dropout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6" name="ablations-3-1"/>
          <p:cNvSpPr txBox="1"/>
          <p:nvPr/>
        </p:nvSpPr>
        <p:spPr>
          <a:xfrm>
            <a:off x="5943600" y="3619500"/>
            <a:ext cx="12954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24.6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ablations-3-2"/>
          <p:cNvSpPr txBox="1"/>
          <p:nvPr/>
        </p:nvSpPr>
        <p:spPr>
          <a:xfrm>
            <a:off x="7442200" y="3619500"/>
            <a:ext cx="15748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−1.2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8" name="ablations-3-3"/>
          <p:cNvSpPr txBox="1"/>
          <p:nvPr/>
        </p:nvSpPr>
        <p:spPr>
          <a:xfrm>
            <a:off x="9220200" y="3619500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其余同 Base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9" name="ablations-rule-3"/>
          <p:cNvSpPr/>
          <p:nvPr/>
        </p:nvSpPr>
        <p:spPr>
          <a:xfrm>
            <a:off x="584200" y="41275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" name="ablations-4-0"/>
          <p:cNvSpPr txBox="1"/>
          <p:nvPr/>
        </p:nvSpPr>
        <p:spPr>
          <a:xfrm>
            <a:off x="685800" y="4229100"/>
            <a:ext cx="50546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FFN 内层 2048 改为 4096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1" name="ablations-4-1"/>
          <p:cNvSpPr txBox="1"/>
          <p:nvPr/>
        </p:nvSpPr>
        <p:spPr>
          <a:xfrm>
            <a:off x="5943600" y="4229100"/>
            <a:ext cx="12954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26.2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2" name="ablations-4-2"/>
          <p:cNvSpPr txBox="1"/>
          <p:nvPr/>
        </p:nvSpPr>
        <p:spPr>
          <a:xfrm>
            <a:off x="7442200" y="4229100"/>
            <a:ext cx="15748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+0.4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3" name="ablations-4-3"/>
          <p:cNvSpPr txBox="1"/>
          <p:nvPr/>
        </p:nvSpPr>
        <p:spPr>
          <a:xfrm>
            <a:off x="9220200" y="4229100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其余同 Base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4" name="ablations-rule-4"/>
          <p:cNvSpPr/>
          <p:nvPr/>
        </p:nvSpPr>
        <p:spPr>
          <a:xfrm>
            <a:off x="584200" y="47371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" name="ablations-5-0"/>
          <p:cNvSpPr txBox="1"/>
          <p:nvPr/>
        </p:nvSpPr>
        <p:spPr>
          <a:xfrm>
            <a:off x="685800" y="4838700"/>
            <a:ext cx="50546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学习位置编码替代正弦编码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6" name="ablations-5-1"/>
          <p:cNvSpPr txBox="1"/>
          <p:nvPr/>
        </p:nvSpPr>
        <p:spPr>
          <a:xfrm>
            <a:off x="5943600" y="4838700"/>
            <a:ext cx="12954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25.7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7" name="ablations-5-2"/>
          <p:cNvSpPr txBox="1"/>
          <p:nvPr/>
        </p:nvSpPr>
        <p:spPr>
          <a:xfrm>
            <a:off x="7442200" y="4838700"/>
            <a:ext cx="15748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−0.1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8" name="ablations-5-3"/>
          <p:cNvSpPr txBox="1"/>
          <p:nvPr/>
        </p:nvSpPr>
        <p:spPr>
          <a:xfrm>
            <a:off x="9220200" y="4838700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其余同 Base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9" name="ablations-bottom"/>
          <p:cNvSpPr/>
          <p:nvPr/>
        </p:nvSpPr>
        <p:spPr>
          <a:xfrm>
            <a:off x="584200" y="53467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" name="ablation-takeaway"/>
          <p:cNvSpPr txBox="1"/>
          <p:nvPr/>
        </p:nvSpPr>
        <p:spPr>
          <a:xfrm>
            <a:off x="584200" y="5638800"/>
            <a:ext cx="110236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820000"/>
                </a:solidFill>
                <a:latin typeface="Arial Unicode MS"/>
                <a:ea typeface="Arial Unicode MS"/>
              </a:rPr>
              <a:t>微小差异缺少方差依据，不能据此判定位置编码方案的普遍优劣。</a:t>
            </a:r>
            <a:endParaRPr lang="en-US" sz="2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句法分析显示迁移能力，优势存在边界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§6.3、表4  论文 p.9,10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17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parsing-top"/>
          <p:cNvSpPr/>
          <p:nvPr/>
        </p:nvSpPr>
        <p:spPr>
          <a:xfrm>
            <a:off x="584200" y="1651000"/>
            <a:ext cx="7518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parsing-0-0"/>
          <p:cNvSpPr txBox="1"/>
          <p:nvPr/>
        </p:nvSpPr>
        <p:spPr>
          <a:xfrm>
            <a:off x="685800" y="1752600"/>
            <a:ext cx="3911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模型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parsing-0-1"/>
          <p:cNvSpPr txBox="1"/>
          <p:nvPr/>
        </p:nvSpPr>
        <p:spPr>
          <a:xfrm>
            <a:off x="4800600" y="17526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训练设定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parsing-0-2"/>
          <p:cNvSpPr txBox="1"/>
          <p:nvPr/>
        </p:nvSpPr>
        <p:spPr>
          <a:xfrm>
            <a:off x="6604000" y="1752600"/>
            <a:ext cx="1397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WSJ23 F1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parsing-header"/>
          <p:cNvSpPr/>
          <p:nvPr/>
        </p:nvSpPr>
        <p:spPr>
          <a:xfrm>
            <a:off x="584200" y="2184400"/>
            <a:ext cx="7518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parsing-1-0"/>
          <p:cNvSpPr txBox="1"/>
          <p:nvPr/>
        </p:nvSpPr>
        <p:spPr>
          <a:xfrm>
            <a:off x="685800" y="2286000"/>
            <a:ext cx="3911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Vinyals / Kaiser 等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parsing-1-1"/>
          <p:cNvSpPr txBox="1"/>
          <p:nvPr/>
        </p:nvSpPr>
        <p:spPr>
          <a:xfrm>
            <a:off x="4800600" y="22860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WSJ only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parsing-1-2"/>
          <p:cNvSpPr txBox="1"/>
          <p:nvPr/>
        </p:nvSpPr>
        <p:spPr>
          <a:xfrm>
            <a:off x="6604000" y="2286000"/>
            <a:ext cx="1397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88.3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parsing-rule-1"/>
          <p:cNvSpPr/>
          <p:nvPr/>
        </p:nvSpPr>
        <p:spPr>
          <a:xfrm>
            <a:off x="584200" y="2717800"/>
            <a:ext cx="7518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parsing-2-0"/>
          <p:cNvSpPr txBox="1"/>
          <p:nvPr/>
        </p:nvSpPr>
        <p:spPr>
          <a:xfrm>
            <a:off x="685800" y="2819400"/>
            <a:ext cx="3911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Petrov 等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parsing-2-1"/>
          <p:cNvSpPr txBox="1"/>
          <p:nvPr/>
        </p:nvSpPr>
        <p:spPr>
          <a:xfrm>
            <a:off x="4800600" y="28194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WSJ only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parsing-2-2"/>
          <p:cNvSpPr txBox="1"/>
          <p:nvPr/>
        </p:nvSpPr>
        <p:spPr>
          <a:xfrm>
            <a:off x="6604000" y="2819400"/>
            <a:ext cx="1397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90.4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parsing-rule-2"/>
          <p:cNvSpPr/>
          <p:nvPr/>
        </p:nvSpPr>
        <p:spPr>
          <a:xfrm>
            <a:off x="584200" y="3251200"/>
            <a:ext cx="7518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parsing-3-0"/>
          <p:cNvSpPr txBox="1"/>
          <p:nvPr/>
        </p:nvSpPr>
        <p:spPr>
          <a:xfrm>
            <a:off x="685800" y="3352800"/>
            <a:ext cx="3911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Dyer 等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parsing-3-1"/>
          <p:cNvSpPr txBox="1"/>
          <p:nvPr/>
        </p:nvSpPr>
        <p:spPr>
          <a:xfrm>
            <a:off x="4800600" y="33528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WSJ only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parsing-3-2"/>
          <p:cNvSpPr txBox="1"/>
          <p:nvPr/>
        </p:nvSpPr>
        <p:spPr>
          <a:xfrm>
            <a:off x="6604000" y="3352800"/>
            <a:ext cx="1397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91.7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parsing-rule-3"/>
          <p:cNvSpPr/>
          <p:nvPr/>
        </p:nvSpPr>
        <p:spPr>
          <a:xfrm>
            <a:off x="584200" y="3784600"/>
            <a:ext cx="7518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parsing-hi-4"/>
          <p:cNvSpPr/>
          <p:nvPr/>
        </p:nvSpPr>
        <p:spPr>
          <a:xfrm>
            <a:off x="584200" y="3784600"/>
            <a:ext cx="7518400" cy="533400"/>
          </a:xfrm>
          <a:prstGeom prst="rect">
            <a:avLst/>
          </a:prstGeom>
          <a:solidFill>
            <a:srgbClr val="F4E8E6"/>
          </a:solidFill>
          <a:ln>
            <a:noFill/>
          </a:ln>
        </p:spPr>
      </p:sp>
      <p:sp>
        <p:nvSpPr>
          <p:cNvPr id="25" name="parsing-4-0"/>
          <p:cNvSpPr txBox="1"/>
          <p:nvPr/>
        </p:nvSpPr>
        <p:spPr>
          <a:xfrm>
            <a:off x="685800" y="3886200"/>
            <a:ext cx="3911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Transformer 4 层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6" name="parsing-4-1"/>
          <p:cNvSpPr txBox="1"/>
          <p:nvPr/>
        </p:nvSpPr>
        <p:spPr>
          <a:xfrm>
            <a:off x="4800600" y="38862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WSJ only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parsing-4-2"/>
          <p:cNvSpPr txBox="1"/>
          <p:nvPr/>
        </p:nvSpPr>
        <p:spPr>
          <a:xfrm>
            <a:off x="6604000" y="3886200"/>
            <a:ext cx="1397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91.3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8" name="parsing-rule-4"/>
          <p:cNvSpPr/>
          <p:nvPr/>
        </p:nvSpPr>
        <p:spPr>
          <a:xfrm>
            <a:off x="584200" y="4318000"/>
            <a:ext cx="7518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" name="parsing-5-0"/>
          <p:cNvSpPr txBox="1"/>
          <p:nvPr/>
        </p:nvSpPr>
        <p:spPr>
          <a:xfrm>
            <a:off x="685800" y="4419600"/>
            <a:ext cx="3911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Vinyals / Kaiser 等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0" name="parsing-5-1"/>
          <p:cNvSpPr txBox="1"/>
          <p:nvPr/>
        </p:nvSpPr>
        <p:spPr>
          <a:xfrm>
            <a:off x="4800600" y="44196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半监督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1" name="parsing-5-2"/>
          <p:cNvSpPr txBox="1"/>
          <p:nvPr/>
        </p:nvSpPr>
        <p:spPr>
          <a:xfrm>
            <a:off x="6604000" y="4419600"/>
            <a:ext cx="1397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92.1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2" name="parsing-rule-5"/>
          <p:cNvSpPr/>
          <p:nvPr/>
        </p:nvSpPr>
        <p:spPr>
          <a:xfrm>
            <a:off x="584200" y="4851400"/>
            <a:ext cx="7518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" name="parsing-hi-6"/>
          <p:cNvSpPr/>
          <p:nvPr/>
        </p:nvSpPr>
        <p:spPr>
          <a:xfrm>
            <a:off x="584200" y="4851400"/>
            <a:ext cx="7518400" cy="533400"/>
          </a:xfrm>
          <a:prstGeom prst="rect">
            <a:avLst/>
          </a:prstGeom>
          <a:solidFill>
            <a:srgbClr val="F4E8E6"/>
          </a:solidFill>
          <a:ln>
            <a:noFill/>
          </a:ln>
        </p:spPr>
      </p:sp>
      <p:sp>
        <p:nvSpPr>
          <p:cNvPr id="34" name="parsing-6-0"/>
          <p:cNvSpPr txBox="1"/>
          <p:nvPr/>
        </p:nvSpPr>
        <p:spPr>
          <a:xfrm>
            <a:off x="685800" y="4953000"/>
            <a:ext cx="39116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Transformer 4 层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5" name="parsing-6-1"/>
          <p:cNvSpPr txBox="1"/>
          <p:nvPr/>
        </p:nvSpPr>
        <p:spPr>
          <a:xfrm>
            <a:off x="4800600" y="4953000"/>
            <a:ext cx="1600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半监督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6" name="parsing-6-2"/>
          <p:cNvSpPr txBox="1"/>
          <p:nvPr/>
        </p:nvSpPr>
        <p:spPr>
          <a:xfrm>
            <a:off x="6604000" y="4953000"/>
            <a:ext cx="1397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92.7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37" name="parsing-bottom"/>
          <p:cNvSpPr/>
          <p:nvPr/>
        </p:nvSpPr>
        <p:spPr>
          <a:xfrm>
            <a:off x="584200" y="5384800"/>
            <a:ext cx="75184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" name="parse-config"/>
          <p:cNvSpPr txBox="1"/>
          <p:nvPr/>
        </p:nvSpPr>
        <p:spPr>
          <a:xfrm>
            <a:off x="8636000" y="1651000"/>
            <a:ext cx="2971800" cy="156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4 层 Transformer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模型维度 1024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252525"/>
                </a:solidFill>
                <a:latin typeface="Arial Unicode MS"/>
                <a:ea typeface="Arial Unicode MS"/>
              </a:rPr>
              <a:t>WSJ 训练约 4 万句</a:t>
            </a:r>
            <a:endParaRPr lang="en-US" sz="20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39" name="parse-semi"/>
          <p:cNvSpPr txBox="1"/>
          <p:nvPr/>
        </p:nvSpPr>
        <p:spPr>
          <a:xfrm>
            <a:off x="8636000" y="3644900"/>
            <a:ext cx="2971800" cy="1155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半监督额外数据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252525"/>
                </a:solidFill>
                <a:latin typeface="Arial Unicode MS"/>
                <a:ea typeface="Arial Unicode MS"/>
              </a:rPr>
              <a:t>约 1700 万句</a:t>
            </a:r>
            <a:endParaRPr lang="en-US" sz="20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40" name="parse-boundary"/>
          <p:cNvSpPr txBox="1"/>
          <p:nvPr/>
        </p:nvSpPr>
        <p:spPr>
          <a:xfrm>
            <a:off x="8636000" y="5219700"/>
            <a:ext cx="2971800" cy="927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6D6D6D"/>
                </a:solidFill>
                <a:latin typeface="Arial Unicode MS"/>
                <a:ea typeface="Arial Unicode MS"/>
              </a:rPr>
              <a:t>多任务 93.0、生成式 93.3</a:t>
            </a:r>
            <a:endParaRPr lang="en-US" sz="16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6D6D6D"/>
                </a:solidFill>
                <a:latin typeface="Arial Unicode MS"/>
                <a:ea typeface="Arial Unicode MS"/>
              </a:rPr>
              <a:t>属于不同实验设定。</a:t>
            </a:r>
            <a:endParaRPr lang="en-US" sz="16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架构有效，仍有四类证据边界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§4、§6–7、附录  论文 p.6,7,8,9,10,13,14,15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18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limit-num-0"/>
          <p:cNvSpPr txBox="1"/>
          <p:nvPr/>
        </p:nvSpPr>
        <p:spPr>
          <a:xfrm>
            <a:off x="584200" y="1689100"/>
            <a:ext cx="5969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1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8" name="limit-label-0"/>
          <p:cNvSpPr txBox="1"/>
          <p:nvPr/>
        </p:nvSpPr>
        <p:spPr>
          <a:xfrm>
            <a:off x="1333500" y="1727200"/>
            <a:ext cx="1968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rgbClr val="252525"/>
                </a:solidFill>
                <a:latin typeface="Arial Unicode MS"/>
                <a:ea typeface="Arial Unicode MS"/>
              </a:rPr>
              <a:t>长序列成本</a:t>
            </a:r>
            <a:endParaRPr lang="en-US" sz="21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limit-evidence-0"/>
          <p:cNvSpPr txBox="1"/>
          <p:nvPr/>
        </p:nvSpPr>
        <p:spPr>
          <a:xfrm>
            <a:off x="3632200" y="1727200"/>
            <a:ext cx="42545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252525"/>
                </a:solidFill>
                <a:latin typeface="Arial Unicode MS"/>
                <a:ea typeface="Arial Unicode MS"/>
              </a:rPr>
              <a:t>全局自注意力的单层成本为 O(n²d)。</a:t>
            </a:r>
            <a:endParaRPr lang="en-US" sz="19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limit-question-0"/>
          <p:cNvSpPr txBox="1"/>
          <p:nvPr/>
        </p:nvSpPr>
        <p:spPr>
          <a:xfrm>
            <a:off x="8458200" y="1727200"/>
            <a:ext cx="3149600" cy="927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局部注意力会怎样改变质量与长程路径？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limit-rule-0"/>
          <p:cNvSpPr/>
          <p:nvPr/>
        </p:nvSpPr>
        <p:spPr>
          <a:xfrm>
            <a:off x="1333500" y="2628900"/>
            <a:ext cx="10274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limit-num-1"/>
          <p:cNvSpPr txBox="1"/>
          <p:nvPr/>
        </p:nvSpPr>
        <p:spPr>
          <a:xfrm>
            <a:off x="584200" y="2755900"/>
            <a:ext cx="5969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2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limit-label-1"/>
          <p:cNvSpPr txBox="1"/>
          <p:nvPr/>
        </p:nvSpPr>
        <p:spPr>
          <a:xfrm>
            <a:off x="1333500" y="2794000"/>
            <a:ext cx="1968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rgbClr val="252525"/>
                </a:solidFill>
                <a:latin typeface="Arial Unicode MS"/>
                <a:ea typeface="Arial Unicode MS"/>
              </a:rPr>
              <a:t>生成串行</a:t>
            </a:r>
            <a:endParaRPr lang="en-US" sz="21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limit-evidence-1"/>
          <p:cNvSpPr txBox="1"/>
          <p:nvPr/>
        </p:nvSpPr>
        <p:spPr>
          <a:xfrm>
            <a:off x="3632200" y="2794000"/>
            <a:ext cx="42545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252525"/>
                </a:solidFill>
                <a:latin typeface="Arial Unicode MS"/>
                <a:ea typeface="Arial Unicode MS"/>
              </a:rPr>
              <a:t>解码仍依赖此前生成的目标前缀。</a:t>
            </a:r>
            <a:endParaRPr lang="en-US" sz="19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limit-question-1"/>
          <p:cNvSpPr txBox="1"/>
          <p:nvPr/>
        </p:nvSpPr>
        <p:spPr>
          <a:xfrm>
            <a:off x="8458200" y="2794000"/>
            <a:ext cx="3149600" cy="927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如何减少串行生成，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同时保留预测质量？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limit-rule-1"/>
          <p:cNvSpPr/>
          <p:nvPr/>
        </p:nvSpPr>
        <p:spPr>
          <a:xfrm>
            <a:off x="1333500" y="3695700"/>
            <a:ext cx="10274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limit-num-2"/>
          <p:cNvSpPr txBox="1"/>
          <p:nvPr/>
        </p:nvSpPr>
        <p:spPr>
          <a:xfrm>
            <a:off x="584200" y="3822700"/>
            <a:ext cx="5969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3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limit-label-2"/>
          <p:cNvSpPr txBox="1"/>
          <p:nvPr/>
        </p:nvSpPr>
        <p:spPr>
          <a:xfrm>
            <a:off x="1333500" y="3860800"/>
            <a:ext cx="1968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rgbClr val="252525"/>
                </a:solidFill>
                <a:latin typeface="Arial Unicode MS"/>
                <a:ea typeface="Arial Unicode MS"/>
              </a:rPr>
              <a:t>组件归因</a:t>
            </a:r>
            <a:endParaRPr lang="en-US" sz="21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limit-evidence-2"/>
          <p:cNvSpPr txBox="1"/>
          <p:nvPr/>
        </p:nvSpPr>
        <p:spPr>
          <a:xfrm>
            <a:off x="3632200" y="3860800"/>
            <a:ext cx="42545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252525"/>
                </a:solidFill>
                <a:latin typeface="Arial Unicode MS"/>
                <a:ea typeface="Arial Unicode MS"/>
              </a:rPr>
              <a:t>表 3 有多头、容量与正则化变体。</a:t>
            </a:r>
            <a:endParaRPr lang="en-US" sz="19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0" name="limit-question-2"/>
          <p:cNvSpPr txBox="1"/>
          <p:nvPr/>
        </p:nvSpPr>
        <p:spPr>
          <a:xfrm>
            <a:off x="8458200" y="3860800"/>
            <a:ext cx="3149600" cy="927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缺少完全替换注意力的同预算对照。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limit-rule-2"/>
          <p:cNvSpPr/>
          <p:nvPr/>
        </p:nvSpPr>
        <p:spPr>
          <a:xfrm>
            <a:off x="1333500" y="4762500"/>
            <a:ext cx="102743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limit-num-3"/>
          <p:cNvSpPr txBox="1"/>
          <p:nvPr/>
        </p:nvSpPr>
        <p:spPr>
          <a:xfrm>
            <a:off x="584200" y="4889500"/>
            <a:ext cx="5969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4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limit-label-3"/>
          <p:cNvSpPr txBox="1"/>
          <p:nvPr/>
        </p:nvSpPr>
        <p:spPr>
          <a:xfrm>
            <a:off x="1333500" y="4927600"/>
            <a:ext cx="1968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rgbClr val="252525"/>
                </a:solidFill>
                <a:latin typeface="Arial Unicode MS"/>
                <a:ea typeface="Arial Unicode MS"/>
              </a:rPr>
              <a:t>结论范围</a:t>
            </a:r>
            <a:endParaRPr lang="en-US" sz="21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4" name="limit-evidence-3"/>
          <p:cNvSpPr txBox="1"/>
          <p:nvPr/>
        </p:nvSpPr>
        <p:spPr>
          <a:xfrm>
            <a:off x="3632200" y="4927600"/>
            <a:ext cx="42545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900">
                <a:solidFill>
                  <a:srgbClr val="252525"/>
                </a:solidFill>
                <a:latin typeface="Arial Unicode MS"/>
                <a:ea typeface="Arial Unicode MS"/>
              </a:rPr>
              <a:t>验证集中于翻译与英语句法分析。</a:t>
            </a:r>
            <a:endParaRPr lang="en-US" sz="19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5" name="limit-question-3"/>
          <p:cNvSpPr txBox="1"/>
          <p:nvPr/>
        </p:nvSpPr>
        <p:spPr>
          <a:xfrm>
            <a:off x="8458200" y="4927600"/>
            <a:ext cx="3149600" cy="927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6D6D6D"/>
                </a:solidFill>
                <a:latin typeface="Arial Unicode MS"/>
                <a:ea typeface="Arial Unicode MS"/>
              </a:rPr>
              <a:t>方差、多模态和注意力因果解释仍缺证据。</a:t>
            </a:r>
            <a:endParaRPr lang="en-US" sz="18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组会汇报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贡献、证据与下一步问题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§1、§4、§6–7  论文 p.2,6,8,9,10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19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close-num-0"/>
          <p:cNvSpPr txBox="1"/>
          <p:nvPr/>
        </p:nvSpPr>
        <p:spPr>
          <a:xfrm>
            <a:off x="584200" y="1676400"/>
            <a:ext cx="6223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820000"/>
                </a:solidFill>
                <a:latin typeface="Arial Unicode MS"/>
                <a:ea typeface="Arial Unicode MS"/>
              </a:rPr>
              <a:t>1</a:t>
            </a:r>
            <a:endParaRPr lang="en-US" sz="34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8" name="close-label-0"/>
          <p:cNvSpPr txBox="1"/>
          <p:nvPr/>
        </p:nvSpPr>
        <p:spPr>
          <a:xfrm>
            <a:off x="1397000" y="1727200"/>
            <a:ext cx="24384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架构贡献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9" name="close-body-0"/>
          <p:cNvSpPr txBox="1"/>
          <p:nvPr/>
        </p:nvSpPr>
        <p:spPr>
          <a:xfrm>
            <a:off x="4038600" y="1714500"/>
            <a:ext cx="7569200" cy="825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>
                <a:solidFill>
                  <a:srgbClr val="252525"/>
                </a:solidFill>
                <a:latin typeface="Arial Unicode MS"/>
                <a:ea typeface="Arial Unicode MS"/>
              </a:rPr>
              <a:t>用全局信息交互替代循环依赖，缩短训练中的信息路径。</a:t>
            </a:r>
            <a:endParaRPr lang="en-US" sz="22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close-num-1"/>
          <p:cNvSpPr txBox="1"/>
          <p:nvPr/>
        </p:nvSpPr>
        <p:spPr>
          <a:xfrm>
            <a:off x="584200" y="2781300"/>
            <a:ext cx="6223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820000"/>
                </a:solidFill>
                <a:latin typeface="Arial Unicode MS"/>
                <a:ea typeface="Arial Unicode MS"/>
              </a:rPr>
              <a:t>2</a:t>
            </a:r>
            <a:endParaRPr lang="en-US" sz="34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close-label-1"/>
          <p:cNvSpPr txBox="1"/>
          <p:nvPr/>
        </p:nvSpPr>
        <p:spPr>
          <a:xfrm>
            <a:off x="1397000" y="2832100"/>
            <a:ext cx="24384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实验支持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2" name="close-body-1"/>
          <p:cNvSpPr txBox="1"/>
          <p:nvPr/>
        </p:nvSpPr>
        <p:spPr>
          <a:xfrm>
            <a:off x="4038600" y="2819400"/>
            <a:ext cx="7569200" cy="825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>
                <a:solidFill>
                  <a:srgbClr val="252525"/>
                </a:solidFill>
                <a:latin typeface="Arial Unicode MS"/>
                <a:ea typeface="Arial Unicode MS"/>
              </a:rPr>
              <a:t>英德 +2.04 BLEU，英法成本更低，句法分析可迁移。</a:t>
            </a:r>
            <a:endParaRPr lang="en-US" sz="22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close-num-2"/>
          <p:cNvSpPr txBox="1"/>
          <p:nvPr/>
        </p:nvSpPr>
        <p:spPr>
          <a:xfrm>
            <a:off x="584200" y="3886200"/>
            <a:ext cx="6223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820000"/>
                </a:solidFill>
                <a:latin typeface="Arial Unicode MS"/>
                <a:ea typeface="Arial Unicode MS"/>
              </a:rPr>
              <a:t>3</a:t>
            </a:r>
            <a:endParaRPr lang="en-US" sz="34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close-label-2"/>
          <p:cNvSpPr txBox="1"/>
          <p:nvPr/>
        </p:nvSpPr>
        <p:spPr>
          <a:xfrm>
            <a:off x="1397000" y="3937000"/>
            <a:ext cx="2438400" cy="546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820000"/>
                </a:solidFill>
                <a:latin typeface="Arial Unicode MS"/>
                <a:ea typeface="Arial Unicode MS"/>
              </a:rPr>
              <a:t>结论边界</a:t>
            </a:r>
            <a:endParaRPr lang="en-US" sz="22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close-body-2"/>
          <p:cNvSpPr txBox="1"/>
          <p:nvPr/>
        </p:nvSpPr>
        <p:spPr>
          <a:xfrm>
            <a:off x="4038600" y="3924300"/>
            <a:ext cx="7569200" cy="825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200">
                <a:solidFill>
                  <a:srgbClr val="252525"/>
                </a:solidFill>
                <a:latin typeface="Arial Unicode MS"/>
                <a:ea typeface="Arial Unicode MS"/>
              </a:rPr>
              <a:t>长序列成本、串行生成和组件归因仍需要进一步验证。</a:t>
            </a:r>
            <a:endParaRPr lang="en-US" sz="22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6" name="discussion-rule"/>
          <p:cNvSpPr/>
          <p:nvPr/>
        </p:nvSpPr>
        <p:spPr>
          <a:xfrm>
            <a:off x="584200" y="51816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82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discussion-label"/>
          <p:cNvSpPr txBox="1"/>
          <p:nvPr/>
        </p:nvSpPr>
        <p:spPr>
          <a:xfrm>
            <a:off x="584200" y="54483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300" b="1">
                <a:solidFill>
                  <a:srgbClr val="820000"/>
                </a:solidFill>
                <a:latin typeface="Arial Unicode MS"/>
                <a:ea typeface="Arial Unicode MS"/>
              </a:rPr>
              <a:t>组会讨论</a:t>
            </a:r>
            <a:endParaRPr lang="en-US" sz="23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discussion"/>
          <p:cNvSpPr txBox="1"/>
          <p:nvPr/>
        </p:nvSpPr>
        <p:spPr>
          <a:xfrm>
            <a:off x="3378200" y="5422900"/>
            <a:ext cx="8229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252525"/>
                </a:solidFill>
                <a:latin typeface="Arial Unicode MS"/>
                <a:ea typeface="Arial Unicode MS"/>
              </a:rPr>
              <a:t>固定参数量与训练 FLOPs，怎样检验 Attention 的必要性？</a:t>
            </a:r>
            <a:endParaRPr lang="en-US" sz="24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nning"/>
          <p:cNvSpPr txBox="1"/>
          <p:nvPr/>
        </p:nvSpPr>
        <p:spPr>
          <a:xfrm>
            <a:off x="584200" y="203200"/>
            <a:ext cx="1102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6D6D6D"/>
                </a:solidFill>
                <a:latin typeface="Arial Unicode MS"/>
                <a:ea typeface="Arial Unicode MS"/>
              </a:rPr>
              <a:t>ATTENTION IS ALL YOU NEED   备查</a:t>
            </a:r>
            <a:endParaRPr lang="en-US" sz="10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84200" y="546100"/>
            <a:ext cx="11023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820000"/>
                </a:solidFill>
                <a:latin typeface="Arial Unicode MS"/>
                <a:ea typeface="Arial Unicode MS"/>
              </a:rPr>
              <a:t>复现时统一评测口径与检查点策略</a:t>
            </a:r>
            <a:endParaRPr lang="en-US" sz="30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  <p:sp>
        <p:nvSpPr>
          <p:cNvPr id="4" name="footer-rule"/>
          <p:cNvSpPr/>
          <p:nvPr/>
        </p:nvSpPr>
        <p:spPr>
          <a:xfrm>
            <a:off x="584200" y="62738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889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" name="source"/>
          <p:cNvSpPr txBox="1"/>
          <p:nvPr/>
        </p:nvSpPr>
        <p:spPr>
          <a:xfrm>
            <a:off x="584200" y="6426200"/>
            <a:ext cx="1049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100" u="sng">
                <a:solidFill>
                  <a:srgbClr val="0563C1"/>
                </a:solidFill>
                <a:latin typeface="Arial Unicode MS"/>
                <a:ea typeface="Arial Unicode MS"/>
                <a:hlinkClick r:id="rId1"/>
              </a:rPr>
              <a:t>Vaswani et al., 2017 / arXiv v7</a:t>
            </a: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  §5–6、表2–3  论文 p.7,8,9</a:t>
            </a:r>
            <a:endParaRPr lang="en-US" sz="1100" u="sng">
              <a:solidFill>
                <a:srgbClr val="0563C1"/>
              </a:solidFill>
              <a:latin typeface="Arial Unicode MS"/>
              <a:ea typeface="Arial Unicode MS"/>
              <a:hlinkClick r:id="rId1"/>
            </a:endParaRPr>
          </a:p>
        </p:txBody>
      </p:sp>
      <p:sp>
        <p:nvSpPr>
          <p:cNvPr id="6" name="number"/>
          <p:cNvSpPr txBox="1"/>
          <p:nvPr/>
        </p:nvSpPr>
        <p:spPr>
          <a:xfrm>
            <a:off x="11176000" y="6426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6D6D6D"/>
                </a:solidFill>
                <a:latin typeface="Arial Unicode MS"/>
                <a:ea typeface="Arial Unicode MS"/>
              </a:rPr>
              <a:t>20</a:t>
            </a:r>
            <a:endParaRPr lang="en-US" sz="1100">
              <a:solidFill>
                <a:srgbClr val="6D6D6D"/>
              </a:solidFill>
              <a:latin typeface="Arial Unicode MS"/>
              <a:ea typeface="Arial Unicode MS"/>
            </a:endParaRPr>
          </a:p>
        </p:txBody>
      </p:sp>
      <p:sp>
        <p:nvSpPr>
          <p:cNvPr id="7" name="reproduction-top"/>
          <p:cNvSpPr/>
          <p:nvPr/>
        </p:nvSpPr>
        <p:spPr>
          <a:xfrm>
            <a:off x="584200" y="15875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270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reproduction-0-0"/>
          <p:cNvSpPr txBox="1"/>
          <p:nvPr/>
        </p:nvSpPr>
        <p:spPr>
          <a:xfrm>
            <a:off x="685800" y="1689100"/>
            <a:ext cx="26543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核对项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9" name="reproduction-0-1"/>
          <p:cNvSpPr txBox="1"/>
          <p:nvPr/>
        </p:nvSpPr>
        <p:spPr>
          <a:xfrm>
            <a:off x="3543300" y="1689100"/>
            <a:ext cx="38862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表 2：翻译主结果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0" name="reproduction-0-2"/>
          <p:cNvSpPr txBox="1"/>
          <p:nvPr/>
        </p:nvSpPr>
        <p:spPr>
          <a:xfrm>
            <a:off x="7632700" y="1689100"/>
            <a:ext cx="38735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252525"/>
                </a:solidFill>
                <a:latin typeface="Arial Unicode MS"/>
                <a:ea typeface="Arial Unicode MS"/>
              </a:rPr>
              <a:t>表 3：模型变体</a:t>
            </a:r>
            <a:endParaRPr lang="en-US" sz="1800" b="1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1" name="reproduction-header"/>
          <p:cNvSpPr/>
          <p:nvPr/>
        </p:nvSpPr>
        <p:spPr>
          <a:xfrm>
            <a:off x="584200" y="23241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reproduction-1-0"/>
          <p:cNvSpPr txBox="1"/>
          <p:nvPr/>
        </p:nvSpPr>
        <p:spPr>
          <a:xfrm>
            <a:off x="685800" y="2425700"/>
            <a:ext cx="26543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评测分割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3" name="reproduction-1-1"/>
          <p:cNvSpPr txBox="1"/>
          <p:nvPr/>
        </p:nvSpPr>
        <p:spPr>
          <a:xfrm>
            <a:off x="3543300" y="2425700"/>
            <a:ext cx="38862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newstest2014 测试集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4" name="reproduction-1-2"/>
          <p:cNvSpPr txBox="1"/>
          <p:nvPr/>
        </p:nvSpPr>
        <p:spPr>
          <a:xfrm>
            <a:off x="7632700" y="2425700"/>
            <a:ext cx="38735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newstest2013 开发集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5" name="reproduction-rule-1"/>
          <p:cNvSpPr/>
          <p:nvPr/>
        </p:nvSpPr>
        <p:spPr>
          <a:xfrm>
            <a:off x="584200" y="30607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reproduction-2-0"/>
          <p:cNvSpPr txBox="1"/>
          <p:nvPr/>
        </p:nvSpPr>
        <p:spPr>
          <a:xfrm>
            <a:off x="685800" y="3162300"/>
            <a:ext cx="26543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检查点参数平均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7" name="reproduction-2-1"/>
          <p:cNvSpPr txBox="1"/>
          <p:nvPr/>
        </p:nvSpPr>
        <p:spPr>
          <a:xfrm>
            <a:off x="3543300" y="3162300"/>
            <a:ext cx="38862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Base 最后 5 个，Big 最后 20 个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8" name="reproduction-2-2"/>
          <p:cNvSpPr txBox="1"/>
          <p:nvPr/>
        </p:nvSpPr>
        <p:spPr>
          <a:xfrm>
            <a:off x="7632700" y="3162300"/>
            <a:ext cx="38735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无检查点平均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19" name="reproduction-rule-2"/>
          <p:cNvSpPr/>
          <p:nvPr/>
        </p:nvSpPr>
        <p:spPr>
          <a:xfrm>
            <a:off x="584200" y="37973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reproduction-3-0"/>
          <p:cNvSpPr txBox="1"/>
          <p:nvPr/>
        </p:nvSpPr>
        <p:spPr>
          <a:xfrm>
            <a:off x="685800" y="3898900"/>
            <a:ext cx="26543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搜索策略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1" name="reproduction-3-1"/>
          <p:cNvSpPr txBox="1"/>
          <p:nvPr/>
        </p:nvSpPr>
        <p:spPr>
          <a:xfrm>
            <a:off x="3543300" y="3898900"/>
            <a:ext cx="38862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Beam 4，长度惩罚 α=0.6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2" name="reproduction-3-2"/>
          <p:cNvSpPr txBox="1"/>
          <p:nvPr/>
        </p:nvSpPr>
        <p:spPr>
          <a:xfrm>
            <a:off x="7632700" y="3898900"/>
            <a:ext cx="38735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同前，且无检查点平均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3" name="reproduction-rule-3"/>
          <p:cNvSpPr/>
          <p:nvPr/>
        </p:nvSpPr>
        <p:spPr>
          <a:xfrm>
            <a:off x="584200" y="45339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6350">
            <a:solidFill>
              <a:srgbClr val="D7D7D7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" name="reproduction-4-0"/>
          <p:cNvSpPr txBox="1"/>
          <p:nvPr/>
        </p:nvSpPr>
        <p:spPr>
          <a:xfrm>
            <a:off x="685800" y="4635500"/>
            <a:ext cx="26543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适用结论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5" name="reproduction-4-1"/>
          <p:cNvSpPr txBox="1"/>
          <p:nvPr/>
        </p:nvSpPr>
        <p:spPr>
          <a:xfrm>
            <a:off x="3543300" y="4635500"/>
            <a:ext cx="38862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与既有系统的整体比较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6" name="reproduction-4-2"/>
          <p:cNvSpPr txBox="1"/>
          <p:nvPr/>
        </p:nvSpPr>
        <p:spPr>
          <a:xfrm>
            <a:off x="7632700" y="4635500"/>
            <a:ext cx="3873500" cy="622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252525"/>
                </a:solidFill>
                <a:latin typeface="Arial Unicode MS"/>
                <a:ea typeface="Arial Unicode MS"/>
              </a:rPr>
              <a:t>组件或配置变化的内部比较</a:t>
            </a:r>
            <a:endParaRPr lang="en-US" sz="1800">
              <a:solidFill>
                <a:srgbClr val="252525"/>
              </a:solidFill>
              <a:latin typeface="Arial Unicode MS"/>
              <a:ea typeface="Arial Unicode MS"/>
            </a:endParaRPr>
          </a:p>
        </p:txBody>
      </p:sp>
      <p:sp>
        <p:nvSpPr>
          <p:cNvPr id="27" name="reproduction-bottom"/>
          <p:cNvSpPr/>
          <p:nvPr/>
        </p:nvSpPr>
        <p:spPr>
          <a:xfrm>
            <a:off x="584200" y="5270500"/>
            <a:ext cx="11023600" cy="2540"/>
          </a:xfrm>
          <a:custGeom>
            <a:avLst/>
            <a:gdLst/>
            <a:ahLst/>
            <a:cxnLst/>
            <a:rect l="0" t="0" r="r" b="b"/>
            <a:pathLst>
              <a:path w="12700" h="12700" fill="none">
                <a:moveTo>
                  <a:pt x="0" y="0"/>
                </a:moveTo>
                <a:lnTo>
                  <a:pt x="12700" y="0"/>
                </a:lnTo>
              </a:path>
            </a:pathLst>
          </a:custGeom>
          <a:noFill/>
          <a:ln w="10160">
            <a:solidFill>
              <a:srgbClr val="252525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" name="repro-drop"/>
          <p:cNvSpPr txBox="1"/>
          <p:nvPr/>
        </p:nvSpPr>
        <p:spPr>
          <a:xfrm>
            <a:off x="584200" y="5626100"/>
            <a:ext cx="11023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vert="horz" wrap="square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820000"/>
                </a:solidFill>
                <a:latin typeface="Arial Unicode MS"/>
                <a:ea typeface="Arial Unicode MS"/>
              </a:rPr>
              <a:t>Big dropout：英德 0.3，英法 0.1。不要混用 PPL 的词元定义与逐词指标。</a:t>
            </a:r>
            <a:endParaRPr lang="en-US" sz="1800" b="1">
              <a:solidFill>
                <a:srgbClr val="820000"/>
              </a:solidFill>
              <a:latin typeface="Arial Unicode MS"/>
              <a:ea typeface="Arial Unicode MS"/>
            </a:endParaRPr>
          </a:p>
        </p:txBody>
      </p:sp>
    </p:spTree>
  </p:cSld>
  <p:clrMapOvr>
    <a:masterClrMapping/>
  </p:clrMapOvr>
  <p:transition spd="fast" advClick="1">
    <p:fade/>
  </p:transition>
</p:sld>
</file>

<file path=ppt/theme/notesTheme.xml><?xml version="1.0" encoding="utf-8"?>
<a:theme xmlns:a="http://schemas.openxmlformats.org/drawingml/2006/main" name="Native PPTD">
  <a:themeElements>
    <a:clrScheme name="Nativ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2563EB"/>
      </a:accent1>
      <a:accent2>
        <a:srgbClr val="F59E0B"/>
      </a:accent2>
      <a:accent3>
        <a:srgbClr val="16A34A"/>
      </a:accent3>
      <a:accent4>
        <a:srgbClr val="9333EA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Native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Nativ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.xml><?xml version="1.0" encoding="utf-8"?>
<a:theme xmlns:a="http://schemas.openxmlformats.org/drawingml/2006/main" name="Native PPTD">
  <a:themeElements>
    <a:clrScheme name="Native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2563EB"/>
      </a:accent1>
      <a:accent2>
        <a:srgbClr val="F59E0B"/>
      </a:accent2>
      <a:accent3>
        <a:srgbClr val="16A34A"/>
      </a:accent3>
      <a:accent4>
        <a:srgbClr val="9333EA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Native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Nativ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Attention Is All You Need：中文组会汇报</dc:title>
  <dc:creator>Native PPTD exporter</dc:creator>
</cp:coreProperties>
</file>